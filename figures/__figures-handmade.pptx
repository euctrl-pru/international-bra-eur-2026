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60" r:id="rId4"/>
    <p:sldId id="257" r:id="rId5"/>
    <p:sldId id="259" r:id="rId6"/>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476"/>
    <p:restoredTop sz="94787"/>
  </p:normalViewPr>
  <p:slideViewPr>
    <p:cSldViewPr snapToGrid="0">
      <p:cViewPr varScale="1">
        <p:scale>
          <a:sx n="111" d="100"/>
          <a:sy n="111" d="100"/>
        </p:scale>
        <p:origin x="224" y="3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893B4-00BB-801D-73FD-DD6E79B5ADE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8B72163A-E173-9FD8-DD64-2CAE3CDB36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BF2086AD-C11E-3DB7-D0C7-37376E07EC49}"/>
              </a:ext>
            </a:extLst>
          </p:cNvPr>
          <p:cNvSpPr>
            <a:spLocks noGrp="1"/>
          </p:cNvSpPr>
          <p:nvPr>
            <p:ph type="dt" sz="half" idx="10"/>
          </p:nvPr>
        </p:nvSpPr>
        <p:spPr/>
        <p:txBody>
          <a:bodyPr/>
          <a:lstStyle/>
          <a:p>
            <a:fld id="{B7CFA484-72E8-A442-BADE-A5888C8D7710}" type="datetimeFigureOut">
              <a:rPr lang="en-GB" smtClean="0"/>
              <a:t>06/06/2025</a:t>
            </a:fld>
            <a:endParaRPr lang="en-GB"/>
          </a:p>
        </p:txBody>
      </p:sp>
      <p:sp>
        <p:nvSpPr>
          <p:cNvPr id="5" name="Footer Placeholder 4">
            <a:extLst>
              <a:ext uri="{FF2B5EF4-FFF2-40B4-BE49-F238E27FC236}">
                <a16:creationId xmlns:a16="http://schemas.microsoft.com/office/drawing/2014/main" id="{6E3DD98B-6112-C936-AEE9-FCAC57559E6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A008E3-3521-933D-148A-07EF01A0E3E2}"/>
              </a:ext>
            </a:extLst>
          </p:cNvPr>
          <p:cNvSpPr>
            <a:spLocks noGrp="1"/>
          </p:cNvSpPr>
          <p:nvPr>
            <p:ph type="sldNum" sz="quarter" idx="12"/>
          </p:nvPr>
        </p:nvSpPr>
        <p:spPr/>
        <p:txBody>
          <a:bodyPr/>
          <a:lstStyle/>
          <a:p>
            <a:fld id="{8407124A-7CE2-444E-8699-8C1743879548}" type="slidenum">
              <a:rPr lang="en-GB" smtClean="0"/>
              <a:t>‹#›</a:t>
            </a:fld>
            <a:endParaRPr lang="en-GB"/>
          </a:p>
        </p:txBody>
      </p:sp>
    </p:spTree>
    <p:extLst>
      <p:ext uri="{BB962C8B-B14F-4D97-AF65-F5344CB8AC3E}">
        <p14:creationId xmlns:p14="http://schemas.microsoft.com/office/powerpoint/2010/main" val="2500220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117C6-5D04-C1C7-7C38-21FA6A8CEA74}"/>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6C42061B-9C6E-EA9A-C9E5-6E10F9F2DEC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0EBAEFA-1177-FA50-3442-3DD040A5C333}"/>
              </a:ext>
            </a:extLst>
          </p:cNvPr>
          <p:cNvSpPr>
            <a:spLocks noGrp="1"/>
          </p:cNvSpPr>
          <p:nvPr>
            <p:ph type="dt" sz="half" idx="10"/>
          </p:nvPr>
        </p:nvSpPr>
        <p:spPr/>
        <p:txBody>
          <a:bodyPr/>
          <a:lstStyle/>
          <a:p>
            <a:fld id="{B7CFA484-72E8-A442-BADE-A5888C8D7710}" type="datetimeFigureOut">
              <a:rPr lang="en-GB" smtClean="0"/>
              <a:t>06/06/2025</a:t>
            </a:fld>
            <a:endParaRPr lang="en-GB"/>
          </a:p>
        </p:txBody>
      </p:sp>
      <p:sp>
        <p:nvSpPr>
          <p:cNvPr id="5" name="Footer Placeholder 4">
            <a:extLst>
              <a:ext uri="{FF2B5EF4-FFF2-40B4-BE49-F238E27FC236}">
                <a16:creationId xmlns:a16="http://schemas.microsoft.com/office/drawing/2014/main" id="{CFB014AD-C122-BD13-4BE9-A929625C43C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E8429CE-D43B-3487-B463-2A368C5E0DA4}"/>
              </a:ext>
            </a:extLst>
          </p:cNvPr>
          <p:cNvSpPr>
            <a:spLocks noGrp="1"/>
          </p:cNvSpPr>
          <p:nvPr>
            <p:ph type="sldNum" sz="quarter" idx="12"/>
          </p:nvPr>
        </p:nvSpPr>
        <p:spPr/>
        <p:txBody>
          <a:bodyPr/>
          <a:lstStyle/>
          <a:p>
            <a:fld id="{8407124A-7CE2-444E-8699-8C1743879548}" type="slidenum">
              <a:rPr lang="en-GB" smtClean="0"/>
              <a:t>‹#›</a:t>
            </a:fld>
            <a:endParaRPr lang="en-GB"/>
          </a:p>
        </p:txBody>
      </p:sp>
    </p:spTree>
    <p:extLst>
      <p:ext uri="{BB962C8B-B14F-4D97-AF65-F5344CB8AC3E}">
        <p14:creationId xmlns:p14="http://schemas.microsoft.com/office/powerpoint/2010/main" val="4019823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4F0E5-CCAD-0961-C9F2-20777F385B7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B40DED7C-7808-C57F-F535-73A4D8FB83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FE27AEF-0487-067F-E0C3-9D7A258C9F61}"/>
              </a:ext>
            </a:extLst>
          </p:cNvPr>
          <p:cNvSpPr>
            <a:spLocks noGrp="1"/>
          </p:cNvSpPr>
          <p:nvPr>
            <p:ph type="dt" sz="half" idx="10"/>
          </p:nvPr>
        </p:nvSpPr>
        <p:spPr/>
        <p:txBody>
          <a:bodyPr/>
          <a:lstStyle/>
          <a:p>
            <a:fld id="{B7CFA484-72E8-A442-BADE-A5888C8D7710}" type="datetimeFigureOut">
              <a:rPr lang="en-GB" smtClean="0"/>
              <a:t>06/06/2025</a:t>
            </a:fld>
            <a:endParaRPr lang="en-GB"/>
          </a:p>
        </p:txBody>
      </p:sp>
      <p:sp>
        <p:nvSpPr>
          <p:cNvPr id="5" name="Footer Placeholder 4">
            <a:extLst>
              <a:ext uri="{FF2B5EF4-FFF2-40B4-BE49-F238E27FC236}">
                <a16:creationId xmlns:a16="http://schemas.microsoft.com/office/drawing/2014/main" id="{F2C6D6BF-CB9A-0390-C64A-80E1E28D72A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C4355C5-C5BF-D414-7EF1-0B530BD893D6}"/>
              </a:ext>
            </a:extLst>
          </p:cNvPr>
          <p:cNvSpPr>
            <a:spLocks noGrp="1"/>
          </p:cNvSpPr>
          <p:nvPr>
            <p:ph type="sldNum" sz="quarter" idx="12"/>
          </p:nvPr>
        </p:nvSpPr>
        <p:spPr/>
        <p:txBody>
          <a:bodyPr/>
          <a:lstStyle/>
          <a:p>
            <a:fld id="{8407124A-7CE2-444E-8699-8C1743879548}" type="slidenum">
              <a:rPr lang="en-GB" smtClean="0"/>
              <a:t>‹#›</a:t>
            </a:fld>
            <a:endParaRPr lang="en-GB"/>
          </a:p>
        </p:txBody>
      </p:sp>
    </p:spTree>
    <p:extLst>
      <p:ext uri="{BB962C8B-B14F-4D97-AF65-F5344CB8AC3E}">
        <p14:creationId xmlns:p14="http://schemas.microsoft.com/office/powerpoint/2010/main" val="29451750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4696F-4C66-83A3-6150-AF343EA0B8E1}"/>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CD32BF78-60C5-1F4E-2C16-A783444E501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DF3B165E-A6CC-8C8B-0F2D-4FB1B5F23CA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8AB4DE93-39D7-0399-6619-1CA255901252}"/>
              </a:ext>
            </a:extLst>
          </p:cNvPr>
          <p:cNvSpPr>
            <a:spLocks noGrp="1"/>
          </p:cNvSpPr>
          <p:nvPr>
            <p:ph type="dt" sz="half" idx="10"/>
          </p:nvPr>
        </p:nvSpPr>
        <p:spPr/>
        <p:txBody>
          <a:bodyPr/>
          <a:lstStyle/>
          <a:p>
            <a:fld id="{B7CFA484-72E8-A442-BADE-A5888C8D7710}" type="datetimeFigureOut">
              <a:rPr lang="en-GB" smtClean="0"/>
              <a:t>06/06/2025</a:t>
            </a:fld>
            <a:endParaRPr lang="en-GB"/>
          </a:p>
        </p:txBody>
      </p:sp>
      <p:sp>
        <p:nvSpPr>
          <p:cNvPr id="6" name="Footer Placeholder 5">
            <a:extLst>
              <a:ext uri="{FF2B5EF4-FFF2-40B4-BE49-F238E27FC236}">
                <a16:creationId xmlns:a16="http://schemas.microsoft.com/office/drawing/2014/main" id="{2EB5EBEA-A4B4-4A35-BA0F-C3AC468EA14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076C4FF-A61D-CD7B-BB8B-25BA52FDA11A}"/>
              </a:ext>
            </a:extLst>
          </p:cNvPr>
          <p:cNvSpPr>
            <a:spLocks noGrp="1"/>
          </p:cNvSpPr>
          <p:nvPr>
            <p:ph type="sldNum" sz="quarter" idx="12"/>
          </p:nvPr>
        </p:nvSpPr>
        <p:spPr/>
        <p:txBody>
          <a:bodyPr/>
          <a:lstStyle/>
          <a:p>
            <a:fld id="{8407124A-7CE2-444E-8699-8C1743879548}" type="slidenum">
              <a:rPr lang="en-GB" smtClean="0"/>
              <a:t>‹#›</a:t>
            </a:fld>
            <a:endParaRPr lang="en-GB"/>
          </a:p>
        </p:txBody>
      </p:sp>
    </p:spTree>
    <p:extLst>
      <p:ext uri="{BB962C8B-B14F-4D97-AF65-F5344CB8AC3E}">
        <p14:creationId xmlns:p14="http://schemas.microsoft.com/office/powerpoint/2010/main" val="2893560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123BE-6F17-B9A3-9322-5F2CFC033E2B}"/>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5A6AD694-3EFE-6256-1961-63098D0EFB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57DB083-803C-11FD-F1A7-D8042A59DCD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EE540AC0-AD83-0A47-D6AF-57C185CF6E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C90B908-0B2F-2E39-A98C-63751C2B9A2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8690E365-DCF8-24C6-C179-E4900432D461}"/>
              </a:ext>
            </a:extLst>
          </p:cNvPr>
          <p:cNvSpPr>
            <a:spLocks noGrp="1"/>
          </p:cNvSpPr>
          <p:nvPr>
            <p:ph type="dt" sz="half" idx="10"/>
          </p:nvPr>
        </p:nvSpPr>
        <p:spPr/>
        <p:txBody>
          <a:bodyPr/>
          <a:lstStyle/>
          <a:p>
            <a:fld id="{B7CFA484-72E8-A442-BADE-A5888C8D7710}" type="datetimeFigureOut">
              <a:rPr lang="en-GB" smtClean="0"/>
              <a:t>06/06/2025</a:t>
            </a:fld>
            <a:endParaRPr lang="en-GB"/>
          </a:p>
        </p:txBody>
      </p:sp>
      <p:sp>
        <p:nvSpPr>
          <p:cNvPr id="8" name="Footer Placeholder 7">
            <a:extLst>
              <a:ext uri="{FF2B5EF4-FFF2-40B4-BE49-F238E27FC236}">
                <a16:creationId xmlns:a16="http://schemas.microsoft.com/office/drawing/2014/main" id="{00D4E904-1A96-2801-C59E-41AF652C552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0F1B424-9A3E-C73A-4565-373398C7DE7A}"/>
              </a:ext>
            </a:extLst>
          </p:cNvPr>
          <p:cNvSpPr>
            <a:spLocks noGrp="1"/>
          </p:cNvSpPr>
          <p:nvPr>
            <p:ph type="sldNum" sz="quarter" idx="12"/>
          </p:nvPr>
        </p:nvSpPr>
        <p:spPr/>
        <p:txBody>
          <a:bodyPr/>
          <a:lstStyle/>
          <a:p>
            <a:fld id="{8407124A-7CE2-444E-8699-8C1743879548}" type="slidenum">
              <a:rPr lang="en-GB" smtClean="0"/>
              <a:t>‹#›</a:t>
            </a:fld>
            <a:endParaRPr lang="en-GB"/>
          </a:p>
        </p:txBody>
      </p:sp>
    </p:spTree>
    <p:extLst>
      <p:ext uri="{BB962C8B-B14F-4D97-AF65-F5344CB8AC3E}">
        <p14:creationId xmlns:p14="http://schemas.microsoft.com/office/powerpoint/2010/main" val="3480923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254C7-8747-18D1-A4E8-457D03BD75C8}"/>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089DA33D-4754-FD8A-4633-1208F342D2D4}"/>
              </a:ext>
            </a:extLst>
          </p:cNvPr>
          <p:cNvSpPr>
            <a:spLocks noGrp="1"/>
          </p:cNvSpPr>
          <p:nvPr>
            <p:ph type="dt" sz="half" idx="10"/>
          </p:nvPr>
        </p:nvSpPr>
        <p:spPr/>
        <p:txBody>
          <a:bodyPr/>
          <a:lstStyle/>
          <a:p>
            <a:fld id="{B7CFA484-72E8-A442-BADE-A5888C8D7710}" type="datetimeFigureOut">
              <a:rPr lang="en-GB" smtClean="0"/>
              <a:t>06/06/2025</a:t>
            </a:fld>
            <a:endParaRPr lang="en-GB"/>
          </a:p>
        </p:txBody>
      </p:sp>
      <p:sp>
        <p:nvSpPr>
          <p:cNvPr id="4" name="Footer Placeholder 3">
            <a:extLst>
              <a:ext uri="{FF2B5EF4-FFF2-40B4-BE49-F238E27FC236}">
                <a16:creationId xmlns:a16="http://schemas.microsoft.com/office/drawing/2014/main" id="{FFC1823E-32FF-8E98-4941-1FC8CE91271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D3485A8-D10E-CA3D-0762-BBDF79512E0B}"/>
              </a:ext>
            </a:extLst>
          </p:cNvPr>
          <p:cNvSpPr>
            <a:spLocks noGrp="1"/>
          </p:cNvSpPr>
          <p:nvPr>
            <p:ph type="sldNum" sz="quarter" idx="12"/>
          </p:nvPr>
        </p:nvSpPr>
        <p:spPr/>
        <p:txBody>
          <a:bodyPr/>
          <a:lstStyle/>
          <a:p>
            <a:fld id="{8407124A-7CE2-444E-8699-8C1743879548}" type="slidenum">
              <a:rPr lang="en-GB" smtClean="0"/>
              <a:t>‹#›</a:t>
            </a:fld>
            <a:endParaRPr lang="en-GB"/>
          </a:p>
        </p:txBody>
      </p:sp>
    </p:spTree>
    <p:extLst>
      <p:ext uri="{BB962C8B-B14F-4D97-AF65-F5344CB8AC3E}">
        <p14:creationId xmlns:p14="http://schemas.microsoft.com/office/powerpoint/2010/main" val="1085370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769DD4-1430-B986-8350-8CA29DCE5E35}"/>
              </a:ext>
            </a:extLst>
          </p:cNvPr>
          <p:cNvSpPr>
            <a:spLocks noGrp="1"/>
          </p:cNvSpPr>
          <p:nvPr>
            <p:ph type="dt" sz="half" idx="10"/>
          </p:nvPr>
        </p:nvSpPr>
        <p:spPr/>
        <p:txBody>
          <a:bodyPr/>
          <a:lstStyle/>
          <a:p>
            <a:fld id="{B7CFA484-72E8-A442-BADE-A5888C8D7710}" type="datetimeFigureOut">
              <a:rPr lang="en-GB" smtClean="0"/>
              <a:t>06/06/2025</a:t>
            </a:fld>
            <a:endParaRPr lang="en-GB"/>
          </a:p>
        </p:txBody>
      </p:sp>
      <p:sp>
        <p:nvSpPr>
          <p:cNvPr id="3" name="Footer Placeholder 2">
            <a:extLst>
              <a:ext uri="{FF2B5EF4-FFF2-40B4-BE49-F238E27FC236}">
                <a16:creationId xmlns:a16="http://schemas.microsoft.com/office/drawing/2014/main" id="{ED791932-BBB6-1311-1A7C-566F7CED3BA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320B7E1-16D5-73E3-B93F-F8A5F71B695A}"/>
              </a:ext>
            </a:extLst>
          </p:cNvPr>
          <p:cNvSpPr>
            <a:spLocks noGrp="1"/>
          </p:cNvSpPr>
          <p:nvPr>
            <p:ph type="sldNum" sz="quarter" idx="12"/>
          </p:nvPr>
        </p:nvSpPr>
        <p:spPr/>
        <p:txBody>
          <a:bodyPr/>
          <a:lstStyle/>
          <a:p>
            <a:fld id="{8407124A-7CE2-444E-8699-8C1743879548}" type="slidenum">
              <a:rPr lang="en-GB" smtClean="0"/>
              <a:t>‹#›</a:t>
            </a:fld>
            <a:endParaRPr lang="en-GB"/>
          </a:p>
        </p:txBody>
      </p:sp>
    </p:spTree>
    <p:extLst>
      <p:ext uri="{BB962C8B-B14F-4D97-AF65-F5344CB8AC3E}">
        <p14:creationId xmlns:p14="http://schemas.microsoft.com/office/powerpoint/2010/main" val="2598083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BD793-814E-A707-A982-9978F6A9A08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FBF4B036-6F93-F6FC-9374-D60E02CBA3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09A53BB8-9577-76CC-04C7-F3258FB775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13DE276-5D4E-915B-0EFC-51E7E084E0D4}"/>
              </a:ext>
            </a:extLst>
          </p:cNvPr>
          <p:cNvSpPr>
            <a:spLocks noGrp="1"/>
          </p:cNvSpPr>
          <p:nvPr>
            <p:ph type="dt" sz="half" idx="10"/>
          </p:nvPr>
        </p:nvSpPr>
        <p:spPr/>
        <p:txBody>
          <a:bodyPr/>
          <a:lstStyle/>
          <a:p>
            <a:fld id="{B7CFA484-72E8-A442-BADE-A5888C8D7710}" type="datetimeFigureOut">
              <a:rPr lang="en-GB" smtClean="0"/>
              <a:t>06/06/2025</a:t>
            </a:fld>
            <a:endParaRPr lang="en-GB"/>
          </a:p>
        </p:txBody>
      </p:sp>
      <p:sp>
        <p:nvSpPr>
          <p:cNvPr id="6" name="Footer Placeholder 5">
            <a:extLst>
              <a:ext uri="{FF2B5EF4-FFF2-40B4-BE49-F238E27FC236}">
                <a16:creationId xmlns:a16="http://schemas.microsoft.com/office/drawing/2014/main" id="{07D2D5FA-E5B0-4122-4EEF-611DCC38AC1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18DCF07-9E7F-73A1-E884-1E873CE76784}"/>
              </a:ext>
            </a:extLst>
          </p:cNvPr>
          <p:cNvSpPr>
            <a:spLocks noGrp="1"/>
          </p:cNvSpPr>
          <p:nvPr>
            <p:ph type="sldNum" sz="quarter" idx="12"/>
          </p:nvPr>
        </p:nvSpPr>
        <p:spPr/>
        <p:txBody>
          <a:bodyPr/>
          <a:lstStyle/>
          <a:p>
            <a:fld id="{8407124A-7CE2-444E-8699-8C1743879548}" type="slidenum">
              <a:rPr lang="en-GB" smtClean="0"/>
              <a:t>‹#›</a:t>
            </a:fld>
            <a:endParaRPr lang="en-GB"/>
          </a:p>
        </p:txBody>
      </p:sp>
    </p:spTree>
    <p:extLst>
      <p:ext uri="{BB962C8B-B14F-4D97-AF65-F5344CB8AC3E}">
        <p14:creationId xmlns:p14="http://schemas.microsoft.com/office/powerpoint/2010/main" val="31542022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8E8C3-7054-6218-5E08-5ED21124A1E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CD34CB04-23E7-8725-44FB-EB4D349EB7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F9763D2-EE33-DB47-4529-B394090CDF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D04FEAE-F13C-8B0B-8CE7-19204C7114D5}"/>
              </a:ext>
            </a:extLst>
          </p:cNvPr>
          <p:cNvSpPr>
            <a:spLocks noGrp="1"/>
          </p:cNvSpPr>
          <p:nvPr>
            <p:ph type="dt" sz="half" idx="10"/>
          </p:nvPr>
        </p:nvSpPr>
        <p:spPr/>
        <p:txBody>
          <a:bodyPr/>
          <a:lstStyle/>
          <a:p>
            <a:fld id="{B7CFA484-72E8-A442-BADE-A5888C8D7710}" type="datetimeFigureOut">
              <a:rPr lang="en-GB" smtClean="0"/>
              <a:t>06/06/2025</a:t>
            </a:fld>
            <a:endParaRPr lang="en-GB"/>
          </a:p>
        </p:txBody>
      </p:sp>
      <p:sp>
        <p:nvSpPr>
          <p:cNvPr id="6" name="Footer Placeholder 5">
            <a:extLst>
              <a:ext uri="{FF2B5EF4-FFF2-40B4-BE49-F238E27FC236}">
                <a16:creationId xmlns:a16="http://schemas.microsoft.com/office/drawing/2014/main" id="{47AAC41D-06C5-E1ED-2478-53550726B15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279295C-3904-5BE5-FA3B-2D5D48EB0996}"/>
              </a:ext>
            </a:extLst>
          </p:cNvPr>
          <p:cNvSpPr>
            <a:spLocks noGrp="1"/>
          </p:cNvSpPr>
          <p:nvPr>
            <p:ph type="sldNum" sz="quarter" idx="12"/>
          </p:nvPr>
        </p:nvSpPr>
        <p:spPr/>
        <p:txBody>
          <a:bodyPr/>
          <a:lstStyle/>
          <a:p>
            <a:fld id="{8407124A-7CE2-444E-8699-8C1743879548}" type="slidenum">
              <a:rPr lang="en-GB" smtClean="0"/>
              <a:t>‹#›</a:t>
            </a:fld>
            <a:endParaRPr lang="en-GB"/>
          </a:p>
        </p:txBody>
      </p:sp>
    </p:spTree>
    <p:extLst>
      <p:ext uri="{BB962C8B-B14F-4D97-AF65-F5344CB8AC3E}">
        <p14:creationId xmlns:p14="http://schemas.microsoft.com/office/powerpoint/2010/main" val="3894637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C9B08-C3E9-51F9-37D8-C4C78AE0BB6D}"/>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1CB65932-95EB-2B34-906D-F45290DD6D5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D2BA67C-0438-1D63-C0A0-B8476EDBD8F1}"/>
              </a:ext>
            </a:extLst>
          </p:cNvPr>
          <p:cNvSpPr>
            <a:spLocks noGrp="1"/>
          </p:cNvSpPr>
          <p:nvPr>
            <p:ph type="dt" sz="half" idx="10"/>
          </p:nvPr>
        </p:nvSpPr>
        <p:spPr/>
        <p:txBody>
          <a:bodyPr/>
          <a:lstStyle/>
          <a:p>
            <a:fld id="{B7CFA484-72E8-A442-BADE-A5888C8D7710}" type="datetimeFigureOut">
              <a:rPr lang="en-GB" smtClean="0"/>
              <a:t>06/06/2025</a:t>
            </a:fld>
            <a:endParaRPr lang="en-GB"/>
          </a:p>
        </p:txBody>
      </p:sp>
      <p:sp>
        <p:nvSpPr>
          <p:cNvPr id="5" name="Footer Placeholder 4">
            <a:extLst>
              <a:ext uri="{FF2B5EF4-FFF2-40B4-BE49-F238E27FC236}">
                <a16:creationId xmlns:a16="http://schemas.microsoft.com/office/drawing/2014/main" id="{A213CF55-E201-49F9-10C2-162D83B737C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99BECD7-230D-BA44-C03E-3992BBBA536C}"/>
              </a:ext>
            </a:extLst>
          </p:cNvPr>
          <p:cNvSpPr>
            <a:spLocks noGrp="1"/>
          </p:cNvSpPr>
          <p:nvPr>
            <p:ph type="sldNum" sz="quarter" idx="12"/>
          </p:nvPr>
        </p:nvSpPr>
        <p:spPr/>
        <p:txBody>
          <a:bodyPr/>
          <a:lstStyle/>
          <a:p>
            <a:fld id="{8407124A-7CE2-444E-8699-8C1743879548}" type="slidenum">
              <a:rPr lang="en-GB" smtClean="0"/>
              <a:t>‹#›</a:t>
            </a:fld>
            <a:endParaRPr lang="en-GB"/>
          </a:p>
        </p:txBody>
      </p:sp>
    </p:spTree>
    <p:extLst>
      <p:ext uri="{BB962C8B-B14F-4D97-AF65-F5344CB8AC3E}">
        <p14:creationId xmlns:p14="http://schemas.microsoft.com/office/powerpoint/2010/main" val="4016912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73E9CE-86BB-D06F-818A-E7139A17CE75}"/>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D6C4D490-266D-9689-CB73-78035A24472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C785898-240C-CC6D-839B-A5864D4E0270}"/>
              </a:ext>
            </a:extLst>
          </p:cNvPr>
          <p:cNvSpPr>
            <a:spLocks noGrp="1"/>
          </p:cNvSpPr>
          <p:nvPr>
            <p:ph type="dt" sz="half" idx="10"/>
          </p:nvPr>
        </p:nvSpPr>
        <p:spPr/>
        <p:txBody>
          <a:bodyPr/>
          <a:lstStyle/>
          <a:p>
            <a:fld id="{B7CFA484-72E8-A442-BADE-A5888C8D7710}" type="datetimeFigureOut">
              <a:rPr lang="en-GB" smtClean="0"/>
              <a:t>06/06/2025</a:t>
            </a:fld>
            <a:endParaRPr lang="en-GB"/>
          </a:p>
        </p:txBody>
      </p:sp>
      <p:sp>
        <p:nvSpPr>
          <p:cNvPr id="5" name="Footer Placeholder 4">
            <a:extLst>
              <a:ext uri="{FF2B5EF4-FFF2-40B4-BE49-F238E27FC236}">
                <a16:creationId xmlns:a16="http://schemas.microsoft.com/office/drawing/2014/main" id="{31B4EA40-3893-4005-CE67-9A69BC9DC70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E533BEB-D30A-C33D-59CF-51198AB655A3}"/>
              </a:ext>
            </a:extLst>
          </p:cNvPr>
          <p:cNvSpPr>
            <a:spLocks noGrp="1"/>
          </p:cNvSpPr>
          <p:nvPr>
            <p:ph type="sldNum" sz="quarter" idx="12"/>
          </p:nvPr>
        </p:nvSpPr>
        <p:spPr/>
        <p:txBody>
          <a:bodyPr/>
          <a:lstStyle/>
          <a:p>
            <a:fld id="{8407124A-7CE2-444E-8699-8C1743879548}" type="slidenum">
              <a:rPr lang="en-GB" smtClean="0"/>
              <a:t>‹#›</a:t>
            </a:fld>
            <a:endParaRPr lang="en-GB"/>
          </a:p>
        </p:txBody>
      </p:sp>
    </p:spTree>
    <p:extLst>
      <p:ext uri="{BB962C8B-B14F-4D97-AF65-F5344CB8AC3E}">
        <p14:creationId xmlns:p14="http://schemas.microsoft.com/office/powerpoint/2010/main" val="3989081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DEE70B-50D4-9357-533B-07F7818461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5D794E99-B269-AE26-A5ED-BAFB438F8B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0B5651D-F399-8E06-06DD-24CFD66237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CFA484-72E8-A442-BADE-A5888C8D7710}" type="datetimeFigureOut">
              <a:rPr lang="en-GB" smtClean="0"/>
              <a:t>06/06/2025</a:t>
            </a:fld>
            <a:endParaRPr lang="en-GB"/>
          </a:p>
        </p:txBody>
      </p:sp>
      <p:sp>
        <p:nvSpPr>
          <p:cNvPr id="5" name="Footer Placeholder 4">
            <a:extLst>
              <a:ext uri="{FF2B5EF4-FFF2-40B4-BE49-F238E27FC236}">
                <a16:creationId xmlns:a16="http://schemas.microsoft.com/office/drawing/2014/main" id="{7EB43038-041B-941E-24BE-79EBBA38FD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BC5564A-5C29-F79D-885C-BB4AE8A328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407124A-7CE2-444E-8699-8C1743879548}" type="slidenum">
              <a:rPr lang="en-GB" smtClean="0"/>
              <a:t>‹#›</a:t>
            </a:fld>
            <a:endParaRPr lang="en-GB"/>
          </a:p>
        </p:txBody>
      </p:sp>
    </p:spTree>
    <p:extLst>
      <p:ext uri="{BB962C8B-B14F-4D97-AF65-F5344CB8AC3E}">
        <p14:creationId xmlns:p14="http://schemas.microsoft.com/office/powerpoint/2010/main" val="2480655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29C015E-859F-2A2E-9685-6EE8583296DD}"/>
              </a:ext>
            </a:extLst>
          </p:cNvPr>
          <p:cNvSpPr txBox="1"/>
          <p:nvPr/>
        </p:nvSpPr>
        <p:spPr>
          <a:xfrm>
            <a:off x="4238846" y="157010"/>
            <a:ext cx="6096000" cy="6740307"/>
          </a:xfrm>
          <a:prstGeom prst="rect">
            <a:avLst/>
          </a:prstGeom>
          <a:noFill/>
        </p:spPr>
        <p:txBody>
          <a:bodyPr wrap="square">
            <a:spAutoFit/>
          </a:bodyPr>
          <a:lstStyle/>
          <a:p>
            <a:pPr algn="l">
              <a:buNone/>
            </a:pPr>
            <a:r>
              <a:rPr lang="en-GB" i="1" dirty="0">
                <a:solidFill>
                  <a:srgbClr val="343A40"/>
                </a:solidFill>
                <a:latin typeface="Source Sans Pro" panose="020B0503030403020204" pitchFamily="34" charset="0"/>
              </a:rPr>
              <a:t>“The partnership between DECEA and EUROCONTROL continues to consolidate itself as a reference in international technical cooperation aimed at excellence in ATM performance management. The Performance Review Commission (PRC), in particular, has been a strategic partner in deepening comparative studies between Brazil and Europe, with ongoing support for data sharing, indicator analysis, and the adoption of best practices in performance management.</a:t>
            </a:r>
          </a:p>
          <a:p>
            <a:pPr algn="l">
              <a:buNone/>
            </a:pPr>
            <a:r>
              <a:rPr lang="en-GB" i="1" dirty="0">
                <a:solidFill>
                  <a:srgbClr val="343A40"/>
                </a:solidFill>
                <a:latin typeface="Source Sans Pro" panose="020B0503030403020204" pitchFamily="34" charset="0"/>
              </a:rPr>
              <a:t>This report reflects the results of that joint effort, which has expanded with each edition. The inclusion of new topics, such as the Point Merge, as well as the comparison related to the Curitiba and Lisbon ACCs, shows that even with distinct regional characteristics and operational specificities, benchmarking is not only possible but highly valuable. It broadens mutual understanding and reinforces the feasibility of applying solutions and concepts to the reality of each system.</a:t>
            </a:r>
          </a:p>
          <a:p>
            <a:pPr algn="l"/>
            <a:r>
              <a:rPr lang="en-GB" i="1" dirty="0">
                <a:solidFill>
                  <a:srgbClr val="343A40"/>
                </a:solidFill>
                <a:latin typeface="Source Sans Pro" panose="020B0503030403020204" pitchFamily="34" charset="0"/>
              </a:rPr>
              <a:t>This promising journey highlights the evolution of our air navigation system, driven by performance measurement and continuous dialogue with partners such as EUROCONTROL. It demonstrates that we are on the right path — one guided by cooperation, transparency, and a commitment to continuous improvement.</a:t>
            </a:r>
          </a:p>
          <a:p>
            <a:pPr algn="just"/>
            <a:r>
              <a:rPr lang="en-GB" b="0" i="1" dirty="0">
                <a:solidFill>
                  <a:srgbClr val="343A40"/>
                </a:solidFill>
                <a:effectLst/>
                <a:latin typeface="Source Sans Pro" panose="020F0502020204030204" pitchFamily="34" charset="0"/>
              </a:rPr>
              <a:t>”</a:t>
            </a:r>
            <a:endParaRPr lang="en-GB" i="1" dirty="0"/>
          </a:p>
        </p:txBody>
      </p:sp>
      <p:sp>
        <p:nvSpPr>
          <p:cNvPr id="9" name="TextBox 8">
            <a:extLst>
              <a:ext uri="{FF2B5EF4-FFF2-40B4-BE49-F238E27FC236}">
                <a16:creationId xmlns:a16="http://schemas.microsoft.com/office/drawing/2014/main" id="{A601B23F-6290-6B5A-DB4E-883AC6F636C8}"/>
              </a:ext>
            </a:extLst>
          </p:cNvPr>
          <p:cNvSpPr txBox="1"/>
          <p:nvPr/>
        </p:nvSpPr>
        <p:spPr>
          <a:xfrm>
            <a:off x="1408043" y="2364078"/>
            <a:ext cx="6097772" cy="646331"/>
          </a:xfrm>
          <a:prstGeom prst="rect">
            <a:avLst/>
          </a:prstGeom>
          <a:noFill/>
        </p:spPr>
        <p:txBody>
          <a:bodyPr wrap="square">
            <a:spAutoFit/>
          </a:bodyPr>
          <a:lstStyle/>
          <a:p>
            <a:r>
              <a:rPr lang="en-GB" b="1" i="0" dirty="0">
                <a:solidFill>
                  <a:srgbClr val="343A40"/>
                </a:solidFill>
                <a:effectLst/>
                <a:latin typeface="Source Sans Pro" panose="020B0503030403020204" pitchFamily="34" charset="0"/>
              </a:rPr>
              <a:t>General Maurício Augusto Silveira de Medeiros</a:t>
            </a:r>
            <a:endParaRPr lang="en-GB" b="0" i="0" dirty="0">
              <a:solidFill>
                <a:srgbClr val="343A40"/>
              </a:solidFill>
              <a:effectLst/>
              <a:latin typeface="Source Sans Pro" panose="020B0503030403020204" pitchFamily="34" charset="0"/>
            </a:endParaRPr>
          </a:p>
          <a:p>
            <a:r>
              <a:rPr lang="en-GB" b="0" i="1" dirty="0">
                <a:solidFill>
                  <a:srgbClr val="343A40"/>
                </a:solidFill>
                <a:effectLst/>
                <a:latin typeface="Source Sans Pro" panose="020B0503030403020204" pitchFamily="34" charset="0"/>
              </a:rPr>
              <a:t>Director General of DECEA</a:t>
            </a:r>
            <a:endParaRPr lang="en-GB" b="0" i="0" dirty="0">
              <a:solidFill>
                <a:srgbClr val="343A40"/>
              </a:solidFill>
              <a:effectLst/>
              <a:latin typeface="Source Sans Pro" panose="020B0503030403020204" pitchFamily="34" charset="0"/>
            </a:endParaRPr>
          </a:p>
        </p:txBody>
      </p:sp>
      <p:pic>
        <p:nvPicPr>
          <p:cNvPr id="11" name="Picture 10" descr="A person in a suit and tie&#10;&#10;Description automatically generated">
            <a:extLst>
              <a:ext uri="{FF2B5EF4-FFF2-40B4-BE49-F238E27FC236}">
                <a16:creationId xmlns:a16="http://schemas.microsoft.com/office/drawing/2014/main" id="{732CF16D-7B71-D324-A097-451AEA799CA2}"/>
              </a:ext>
            </a:extLst>
          </p:cNvPr>
          <p:cNvPicPr>
            <a:picLocks noChangeAspect="1"/>
          </p:cNvPicPr>
          <p:nvPr/>
        </p:nvPicPr>
        <p:blipFill>
          <a:blip r:embed="rId2"/>
          <a:stretch>
            <a:fillRect/>
          </a:stretch>
        </p:blipFill>
        <p:spPr>
          <a:xfrm>
            <a:off x="8293101" y="3805531"/>
            <a:ext cx="2041745" cy="2041745"/>
          </a:xfrm>
          <a:prstGeom prst="rect">
            <a:avLst/>
          </a:prstGeom>
        </p:spPr>
      </p:pic>
      <p:sp>
        <p:nvSpPr>
          <p:cNvPr id="13" name="TextBox 12">
            <a:extLst>
              <a:ext uri="{FF2B5EF4-FFF2-40B4-BE49-F238E27FC236}">
                <a16:creationId xmlns:a16="http://schemas.microsoft.com/office/drawing/2014/main" id="{9AEAB23F-4118-0BCC-B674-D5873991FB37}"/>
              </a:ext>
            </a:extLst>
          </p:cNvPr>
          <p:cNvSpPr txBox="1"/>
          <p:nvPr/>
        </p:nvSpPr>
        <p:spPr>
          <a:xfrm>
            <a:off x="1408043" y="3643916"/>
            <a:ext cx="6545110" cy="2585323"/>
          </a:xfrm>
          <a:prstGeom prst="rect">
            <a:avLst/>
          </a:prstGeom>
          <a:noFill/>
        </p:spPr>
        <p:txBody>
          <a:bodyPr wrap="square">
            <a:spAutoFit/>
          </a:bodyPr>
          <a:lstStyle/>
          <a:p>
            <a:pPr algn="just"/>
            <a:r>
              <a:rPr lang="en-GB" b="0" i="1" dirty="0">
                <a:solidFill>
                  <a:srgbClr val="343A40"/>
                </a:solidFill>
                <a:effectLst/>
                <a:latin typeface="Source Sans Pro" panose="020B0503030403020204" pitchFamily="34" charset="0"/>
              </a:rPr>
              <a:t>“This forth edition of the Brazil-Europe comparison </a:t>
            </a:r>
            <a:r>
              <a:rPr lang="en-GB" b="0" i="1" dirty="0">
                <a:solidFill>
                  <a:srgbClr val="343A40"/>
                </a:solidFill>
                <a:effectLst/>
                <a:highlight>
                  <a:srgbClr val="FFFF00"/>
                </a:highlight>
                <a:latin typeface="Source Sans Pro" panose="020B0503030403020204" pitchFamily="34" charset="0"/>
              </a:rPr>
              <a:t>demonstrates the close link between our organisations and the shared desire to provide safe and highly efficient operations in both regions. The close collaboration with DECEA allows for the identification of drivers of performance by understanding similarities and differences in the operational concepts and underlying technological enablers. This is an essential step in working towards a level playing field in both regions and support the wider global performance-based approach to air navigation.”</a:t>
            </a:r>
            <a:endParaRPr lang="en-GB" i="1" dirty="0">
              <a:highlight>
                <a:srgbClr val="FFFF00"/>
              </a:highlight>
            </a:endParaRPr>
          </a:p>
        </p:txBody>
      </p:sp>
      <p:sp>
        <p:nvSpPr>
          <p:cNvPr id="14" name="TextBox 13">
            <a:extLst>
              <a:ext uri="{FF2B5EF4-FFF2-40B4-BE49-F238E27FC236}">
                <a16:creationId xmlns:a16="http://schemas.microsoft.com/office/drawing/2014/main" id="{D8F060B2-8A92-0095-CD3F-F216BD063F36}"/>
              </a:ext>
            </a:extLst>
          </p:cNvPr>
          <p:cNvSpPr txBox="1"/>
          <p:nvPr/>
        </p:nvSpPr>
        <p:spPr>
          <a:xfrm>
            <a:off x="4237074" y="6225801"/>
            <a:ext cx="6097772" cy="646331"/>
          </a:xfrm>
          <a:prstGeom prst="rect">
            <a:avLst/>
          </a:prstGeom>
          <a:noFill/>
        </p:spPr>
        <p:txBody>
          <a:bodyPr wrap="square">
            <a:spAutoFit/>
          </a:bodyPr>
          <a:lstStyle/>
          <a:p>
            <a:pPr algn="r"/>
            <a:r>
              <a:rPr lang="en-GB" b="1" i="0" dirty="0">
                <a:solidFill>
                  <a:srgbClr val="343A40"/>
                </a:solidFill>
                <a:effectLst/>
                <a:latin typeface="Source Sans Pro" panose="020B0503030403020204" pitchFamily="34" charset="0"/>
              </a:rPr>
              <a:t>Dr Peter Whysall</a:t>
            </a:r>
            <a:endParaRPr lang="en-GB" b="0" i="0" dirty="0">
              <a:solidFill>
                <a:srgbClr val="343A40"/>
              </a:solidFill>
              <a:effectLst/>
              <a:latin typeface="Source Sans Pro" panose="020B0503030403020204" pitchFamily="34" charset="0"/>
            </a:endParaRPr>
          </a:p>
          <a:p>
            <a:pPr algn="r"/>
            <a:r>
              <a:rPr lang="en-GB" b="0" i="1" dirty="0">
                <a:solidFill>
                  <a:srgbClr val="343A40"/>
                </a:solidFill>
                <a:effectLst/>
                <a:latin typeface="Source Sans Pro" panose="020B0503030403020204" pitchFamily="34" charset="0"/>
              </a:rPr>
              <a:t>Chairman of the Performance Review Commission</a:t>
            </a:r>
            <a:endParaRPr lang="en-GB" b="0" i="0" dirty="0">
              <a:solidFill>
                <a:srgbClr val="343A40"/>
              </a:solidFill>
              <a:effectLst/>
              <a:latin typeface="Source Sans Pro" panose="020B0503030403020204" pitchFamily="34" charset="0"/>
            </a:endParaRPr>
          </a:p>
        </p:txBody>
      </p:sp>
      <p:pic>
        <p:nvPicPr>
          <p:cNvPr id="4" name="Picture 3">
            <a:extLst>
              <a:ext uri="{FF2B5EF4-FFF2-40B4-BE49-F238E27FC236}">
                <a16:creationId xmlns:a16="http://schemas.microsoft.com/office/drawing/2014/main" id="{3BB3CD07-A559-1585-A8B7-0FBD7A3240E7}"/>
              </a:ext>
            </a:extLst>
          </p:cNvPr>
          <p:cNvPicPr>
            <a:picLocks noChangeAspect="1"/>
          </p:cNvPicPr>
          <p:nvPr/>
        </p:nvPicPr>
        <p:blipFill>
          <a:blip r:embed="rId3"/>
          <a:stretch>
            <a:fillRect/>
          </a:stretch>
        </p:blipFill>
        <p:spPr>
          <a:xfrm>
            <a:off x="1597303" y="197276"/>
            <a:ext cx="2126537" cy="2126537"/>
          </a:xfrm>
          <a:prstGeom prst="rect">
            <a:avLst/>
          </a:prstGeom>
        </p:spPr>
      </p:pic>
    </p:spTree>
    <p:extLst>
      <p:ext uri="{BB962C8B-B14F-4D97-AF65-F5344CB8AC3E}">
        <p14:creationId xmlns:p14="http://schemas.microsoft.com/office/powerpoint/2010/main" val="2397219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C4B04A-CBDD-3040-7014-5B44E0594BCA}"/>
              </a:ext>
            </a:extLst>
          </p:cNvPr>
          <p:cNvSpPr txBox="1"/>
          <p:nvPr/>
        </p:nvSpPr>
        <p:spPr>
          <a:xfrm>
            <a:off x="3279227" y="1134581"/>
            <a:ext cx="7817224" cy="5355312"/>
          </a:xfrm>
          <a:prstGeom prst="rect">
            <a:avLst/>
          </a:prstGeom>
          <a:noFill/>
        </p:spPr>
        <p:txBody>
          <a:bodyPr wrap="square">
            <a:spAutoFit/>
          </a:bodyPr>
          <a:lstStyle/>
          <a:p>
            <a:pPr algn="just">
              <a:buNone/>
            </a:pPr>
            <a:r>
              <a:rPr lang="en-GB" i="1" dirty="0">
                <a:solidFill>
                  <a:srgbClr val="343A40"/>
                </a:solidFill>
                <a:latin typeface="Source Sans Pro" panose="020B0503030403020204" pitchFamily="34" charset="0"/>
              </a:rPr>
              <a:t>The partnership between DECEA and EUROCONTROL continues to consolidate itself as a reference in international technical cooperation aimed at excellence in ATM performance management. The Performance Review Commission (PRC), in particular, has been a strategic partner in deepening comparative studies between Brazil and Europe, with ongoing support for data sharing, indicator analysis, and the adoption of best practices in performance management.</a:t>
            </a:r>
          </a:p>
          <a:p>
            <a:pPr algn="just">
              <a:buNone/>
            </a:pPr>
            <a:endParaRPr lang="en-GB" i="1" dirty="0">
              <a:solidFill>
                <a:srgbClr val="343A40"/>
              </a:solidFill>
              <a:latin typeface="Source Sans Pro" panose="020B0503030403020204" pitchFamily="34" charset="0"/>
            </a:endParaRPr>
          </a:p>
          <a:p>
            <a:pPr algn="just">
              <a:buNone/>
            </a:pPr>
            <a:r>
              <a:rPr lang="en-GB" i="1" dirty="0">
                <a:solidFill>
                  <a:srgbClr val="343A40"/>
                </a:solidFill>
                <a:latin typeface="Source Sans Pro" panose="020B0503030403020204" pitchFamily="34" charset="0"/>
              </a:rPr>
              <a:t>This report reflects the results of that joint effort, which has expanded with each edition. The inclusion of new topics, such as the Point Merge, as well as the comparison related to the Curitiba and Lisbon ACCs, shows that even with distinct regional characteristics and operational specificities, benchmarking is not only possible but highly valuable. It broadens mutual understanding and reinforces the feasibility of applying solutions and concepts to the reality of each system.</a:t>
            </a:r>
          </a:p>
          <a:p>
            <a:pPr algn="just"/>
            <a:endParaRPr lang="en-GB" i="1" dirty="0">
              <a:solidFill>
                <a:srgbClr val="343A40"/>
              </a:solidFill>
              <a:latin typeface="Source Sans Pro" panose="020B0503030403020204" pitchFamily="34" charset="0"/>
            </a:endParaRPr>
          </a:p>
          <a:p>
            <a:pPr algn="just"/>
            <a:r>
              <a:rPr lang="en-GB" i="1" dirty="0">
                <a:solidFill>
                  <a:srgbClr val="343A40"/>
                </a:solidFill>
                <a:latin typeface="Source Sans Pro" panose="020B0503030403020204" pitchFamily="34" charset="0"/>
              </a:rPr>
              <a:t>This promising journey highlights the evolution of our air navigation system, driven by performance measurement and continuous dialogue with partners such as EUROCONTROL. It demonstrates that we are on the right path — one guided by cooperation, transparency, and a commitment to continuous improvement.</a:t>
            </a:r>
          </a:p>
          <a:p>
            <a:pPr algn="just">
              <a:buNone/>
            </a:pPr>
            <a:endParaRPr lang="en-GB" i="1" dirty="0">
              <a:solidFill>
                <a:srgbClr val="343A40"/>
              </a:solidFill>
              <a:latin typeface="Source Sans Pro" panose="020B0503030403020204" pitchFamily="34" charset="0"/>
            </a:endParaRPr>
          </a:p>
        </p:txBody>
      </p:sp>
      <p:sp>
        <p:nvSpPr>
          <p:cNvPr id="4" name="TextBox 3">
            <a:extLst>
              <a:ext uri="{FF2B5EF4-FFF2-40B4-BE49-F238E27FC236}">
                <a16:creationId xmlns:a16="http://schemas.microsoft.com/office/drawing/2014/main" id="{96083BE3-8484-B997-773B-BF81A4634E2C}"/>
              </a:ext>
            </a:extLst>
          </p:cNvPr>
          <p:cNvSpPr txBox="1"/>
          <p:nvPr/>
        </p:nvSpPr>
        <p:spPr>
          <a:xfrm>
            <a:off x="800194" y="2562208"/>
            <a:ext cx="2373237" cy="1077218"/>
          </a:xfrm>
          <a:prstGeom prst="rect">
            <a:avLst/>
          </a:prstGeom>
          <a:noFill/>
        </p:spPr>
        <p:txBody>
          <a:bodyPr wrap="square">
            <a:spAutoFit/>
          </a:bodyPr>
          <a:lstStyle/>
          <a:p>
            <a:pPr algn="ctr"/>
            <a:r>
              <a:rPr lang="en-GB" sz="1600" b="1" i="0" dirty="0">
                <a:solidFill>
                  <a:srgbClr val="343A40"/>
                </a:solidFill>
                <a:effectLst/>
                <a:latin typeface="Source Sans Pro" panose="020B0503030403020204" pitchFamily="34" charset="0"/>
              </a:rPr>
              <a:t>General Maurício </a:t>
            </a:r>
            <a:br>
              <a:rPr lang="en-GB" sz="1600" b="1" i="0" dirty="0">
                <a:solidFill>
                  <a:srgbClr val="343A40"/>
                </a:solidFill>
                <a:effectLst/>
                <a:latin typeface="Source Sans Pro" panose="020B0503030403020204" pitchFamily="34" charset="0"/>
              </a:rPr>
            </a:br>
            <a:r>
              <a:rPr lang="en-GB" sz="1600" b="1" i="0" dirty="0">
                <a:solidFill>
                  <a:srgbClr val="343A40"/>
                </a:solidFill>
                <a:effectLst/>
                <a:latin typeface="Source Sans Pro" panose="020B0503030403020204" pitchFamily="34" charset="0"/>
              </a:rPr>
              <a:t>Augusto Silveira </a:t>
            </a:r>
            <a:br>
              <a:rPr lang="en-GB" sz="1600" b="1" i="0" dirty="0">
                <a:solidFill>
                  <a:srgbClr val="343A40"/>
                </a:solidFill>
                <a:effectLst/>
                <a:latin typeface="Source Sans Pro" panose="020B0503030403020204" pitchFamily="34" charset="0"/>
              </a:rPr>
            </a:br>
            <a:r>
              <a:rPr lang="en-GB" sz="1600" b="1" i="0" dirty="0">
                <a:solidFill>
                  <a:srgbClr val="343A40"/>
                </a:solidFill>
                <a:effectLst/>
                <a:latin typeface="Source Sans Pro" panose="020B0503030403020204" pitchFamily="34" charset="0"/>
              </a:rPr>
              <a:t>de Medeiros</a:t>
            </a:r>
            <a:endParaRPr lang="en-GB" sz="1600" b="0" i="0" dirty="0">
              <a:solidFill>
                <a:srgbClr val="343A40"/>
              </a:solidFill>
              <a:effectLst/>
              <a:latin typeface="Source Sans Pro" panose="020B0503030403020204" pitchFamily="34" charset="0"/>
            </a:endParaRPr>
          </a:p>
          <a:p>
            <a:pPr algn="ctr"/>
            <a:r>
              <a:rPr lang="en-GB" sz="1600" b="0" i="1" dirty="0">
                <a:solidFill>
                  <a:srgbClr val="343A40"/>
                </a:solidFill>
                <a:effectLst/>
                <a:latin typeface="Source Sans Pro" panose="020B0503030403020204" pitchFamily="34" charset="0"/>
              </a:rPr>
              <a:t>Director General of DECEA</a:t>
            </a:r>
            <a:endParaRPr lang="en-GB" sz="1600" b="0" i="0" dirty="0">
              <a:solidFill>
                <a:srgbClr val="343A40"/>
              </a:solidFill>
              <a:effectLst/>
              <a:latin typeface="Source Sans Pro" panose="020B0503030403020204" pitchFamily="34" charset="0"/>
            </a:endParaRPr>
          </a:p>
        </p:txBody>
      </p:sp>
      <p:pic>
        <p:nvPicPr>
          <p:cNvPr id="5" name="Picture 4" descr="A person in a suit and tie&#10;&#10;Description automatically generated">
            <a:extLst>
              <a:ext uri="{FF2B5EF4-FFF2-40B4-BE49-F238E27FC236}">
                <a16:creationId xmlns:a16="http://schemas.microsoft.com/office/drawing/2014/main" id="{CB0F0B36-5EAC-9494-497A-D53B590511F0}"/>
              </a:ext>
            </a:extLst>
          </p:cNvPr>
          <p:cNvPicPr>
            <a:picLocks noChangeAspect="1"/>
          </p:cNvPicPr>
          <p:nvPr/>
        </p:nvPicPr>
        <p:blipFill>
          <a:blip r:embed="rId2"/>
          <a:stretch>
            <a:fillRect/>
          </a:stretch>
        </p:blipFill>
        <p:spPr>
          <a:xfrm>
            <a:off x="1144969" y="3812237"/>
            <a:ext cx="1683689" cy="1683689"/>
          </a:xfrm>
          <a:prstGeom prst="rect">
            <a:avLst/>
          </a:prstGeom>
        </p:spPr>
      </p:pic>
      <p:sp>
        <p:nvSpPr>
          <p:cNvPr id="6" name="TextBox 5">
            <a:extLst>
              <a:ext uri="{FF2B5EF4-FFF2-40B4-BE49-F238E27FC236}">
                <a16:creationId xmlns:a16="http://schemas.microsoft.com/office/drawing/2014/main" id="{D78F8E69-48EC-66F3-3794-B6C16E1CF058}"/>
              </a:ext>
            </a:extLst>
          </p:cNvPr>
          <p:cNvSpPr txBox="1"/>
          <p:nvPr/>
        </p:nvSpPr>
        <p:spPr>
          <a:xfrm>
            <a:off x="-9135" y="5615831"/>
            <a:ext cx="4215549" cy="1077218"/>
          </a:xfrm>
          <a:prstGeom prst="rect">
            <a:avLst/>
          </a:prstGeom>
          <a:noFill/>
        </p:spPr>
        <p:txBody>
          <a:bodyPr wrap="square">
            <a:spAutoFit/>
          </a:bodyPr>
          <a:lstStyle/>
          <a:p>
            <a:pPr algn="ctr"/>
            <a:r>
              <a:rPr lang="en-GB" sz="1600" b="1" i="0" dirty="0">
                <a:solidFill>
                  <a:srgbClr val="343A40"/>
                </a:solidFill>
                <a:effectLst/>
                <a:latin typeface="Source Sans Pro" panose="020B0503030403020204" pitchFamily="34" charset="0"/>
              </a:rPr>
              <a:t>Dr Peter Whysall</a:t>
            </a:r>
            <a:endParaRPr lang="en-GB" sz="1600" b="0" i="0" dirty="0">
              <a:solidFill>
                <a:srgbClr val="343A40"/>
              </a:solidFill>
              <a:effectLst/>
              <a:latin typeface="Source Sans Pro" panose="020B0503030403020204" pitchFamily="34" charset="0"/>
            </a:endParaRPr>
          </a:p>
          <a:p>
            <a:pPr algn="ctr"/>
            <a:r>
              <a:rPr lang="en-GB" sz="1600" b="0" i="1" dirty="0">
                <a:solidFill>
                  <a:srgbClr val="343A40"/>
                </a:solidFill>
                <a:effectLst/>
                <a:latin typeface="Source Sans Pro" panose="020B0503030403020204" pitchFamily="34" charset="0"/>
              </a:rPr>
              <a:t>Chairman of the </a:t>
            </a:r>
            <a:br>
              <a:rPr lang="en-GB" sz="1600" b="0" i="1" dirty="0">
                <a:solidFill>
                  <a:srgbClr val="343A40"/>
                </a:solidFill>
                <a:effectLst/>
                <a:latin typeface="Source Sans Pro" panose="020B0503030403020204" pitchFamily="34" charset="0"/>
              </a:rPr>
            </a:br>
            <a:r>
              <a:rPr lang="en-GB" sz="1600" b="0" i="1" dirty="0">
                <a:solidFill>
                  <a:srgbClr val="343A40"/>
                </a:solidFill>
                <a:effectLst/>
                <a:latin typeface="Source Sans Pro" panose="020B0503030403020204" pitchFamily="34" charset="0"/>
              </a:rPr>
              <a:t>Performance </a:t>
            </a:r>
            <a:br>
              <a:rPr lang="en-GB" sz="1600" b="0" i="1" dirty="0">
                <a:solidFill>
                  <a:srgbClr val="343A40"/>
                </a:solidFill>
                <a:effectLst/>
                <a:latin typeface="Source Sans Pro" panose="020B0503030403020204" pitchFamily="34" charset="0"/>
              </a:rPr>
            </a:br>
            <a:r>
              <a:rPr lang="en-GB" sz="1600" b="0" i="1" dirty="0">
                <a:solidFill>
                  <a:srgbClr val="343A40"/>
                </a:solidFill>
                <a:effectLst/>
                <a:latin typeface="Source Sans Pro" panose="020B0503030403020204" pitchFamily="34" charset="0"/>
              </a:rPr>
              <a:t>Review Commission</a:t>
            </a:r>
            <a:endParaRPr lang="en-GB" sz="1600" b="0" i="0" dirty="0">
              <a:solidFill>
                <a:srgbClr val="343A40"/>
              </a:solidFill>
              <a:effectLst/>
              <a:latin typeface="Source Sans Pro" panose="020B0503030403020204" pitchFamily="34" charset="0"/>
            </a:endParaRPr>
          </a:p>
        </p:txBody>
      </p:sp>
      <p:pic>
        <p:nvPicPr>
          <p:cNvPr id="7" name="Picture 6">
            <a:extLst>
              <a:ext uri="{FF2B5EF4-FFF2-40B4-BE49-F238E27FC236}">
                <a16:creationId xmlns:a16="http://schemas.microsoft.com/office/drawing/2014/main" id="{05F9B8F4-7C0B-56F0-0312-F1BE84625800}"/>
              </a:ext>
            </a:extLst>
          </p:cNvPr>
          <p:cNvPicPr>
            <a:picLocks noChangeAspect="1"/>
          </p:cNvPicPr>
          <p:nvPr/>
        </p:nvPicPr>
        <p:blipFill>
          <a:blip r:embed="rId3"/>
          <a:stretch>
            <a:fillRect/>
          </a:stretch>
        </p:blipFill>
        <p:spPr>
          <a:xfrm>
            <a:off x="1095549" y="779677"/>
            <a:ext cx="1782531" cy="1782531"/>
          </a:xfrm>
          <a:prstGeom prst="rect">
            <a:avLst/>
          </a:prstGeom>
        </p:spPr>
      </p:pic>
    </p:spTree>
    <p:extLst>
      <p:ext uri="{BB962C8B-B14F-4D97-AF65-F5344CB8AC3E}">
        <p14:creationId xmlns:p14="http://schemas.microsoft.com/office/powerpoint/2010/main" val="2559786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wo men in suits holding papers&#10;&#10;AI-generated content may be incorrect.">
            <a:extLst>
              <a:ext uri="{FF2B5EF4-FFF2-40B4-BE49-F238E27FC236}">
                <a16:creationId xmlns:a16="http://schemas.microsoft.com/office/drawing/2014/main" id="{9F33B617-F219-C31A-AAF7-7A689D0CDF21}"/>
              </a:ext>
            </a:extLst>
          </p:cNvPr>
          <p:cNvPicPr>
            <a:picLocks noChangeAspect="1"/>
          </p:cNvPicPr>
          <p:nvPr/>
        </p:nvPicPr>
        <p:blipFill rotWithShape="1">
          <a:blip r:embed="rId2"/>
          <a:srcRect l="2241" t="3774" r="11104" b="29172"/>
          <a:stretch>
            <a:fillRect/>
          </a:stretch>
        </p:blipFill>
        <p:spPr>
          <a:xfrm>
            <a:off x="3454332" y="821802"/>
            <a:ext cx="4457113" cy="4456254"/>
          </a:xfrm>
          <a:prstGeom prst="rect">
            <a:avLst/>
          </a:prstGeom>
        </p:spPr>
      </p:pic>
    </p:spTree>
    <p:extLst>
      <p:ext uri="{BB962C8B-B14F-4D97-AF65-F5344CB8AC3E}">
        <p14:creationId xmlns:p14="http://schemas.microsoft.com/office/powerpoint/2010/main" val="2821362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AAB1E4B8-DA0A-4EDA-F878-81ECBB307F41}"/>
              </a:ext>
            </a:extLst>
          </p:cNvPr>
          <p:cNvGraphicFramePr>
            <a:graphicFrameLocks noGrp="1"/>
          </p:cNvGraphicFramePr>
          <p:nvPr>
            <p:extLst>
              <p:ext uri="{D42A27DB-BD31-4B8C-83A1-F6EECF244321}">
                <p14:modId xmlns:p14="http://schemas.microsoft.com/office/powerpoint/2010/main" val="1749433441"/>
              </p:ext>
            </p:extLst>
          </p:nvPr>
        </p:nvGraphicFramePr>
        <p:xfrm>
          <a:off x="427512" y="588980"/>
          <a:ext cx="9476509" cy="4841824"/>
        </p:xfrm>
        <a:graphic>
          <a:graphicData uri="http://schemas.openxmlformats.org/drawingml/2006/table">
            <a:tbl>
              <a:tblPr firstRow="1" firstCol="1" bandRow="1">
                <a:tableStyleId>{00A15C55-8517-42AA-B614-E9B94910E393}</a:tableStyleId>
              </a:tblPr>
              <a:tblGrid>
                <a:gridCol w="2275330">
                  <a:extLst>
                    <a:ext uri="{9D8B030D-6E8A-4147-A177-3AD203B41FA5}">
                      <a16:colId xmlns:a16="http://schemas.microsoft.com/office/drawing/2014/main" val="388130766"/>
                    </a:ext>
                  </a:extLst>
                </a:gridCol>
                <a:gridCol w="1198179">
                  <a:extLst>
                    <a:ext uri="{9D8B030D-6E8A-4147-A177-3AD203B41FA5}">
                      <a16:colId xmlns:a16="http://schemas.microsoft.com/office/drawing/2014/main" val="2796321310"/>
                    </a:ext>
                  </a:extLst>
                </a:gridCol>
                <a:gridCol w="1082978">
                  <a:extLst>
                    <a:ext uri="{9D8B030D-6E8A-4147-A177-3AD203B41FA5}">
                      <a16:colId xmlns:a16="http://schemas.microsoft.com/office/drawing/2014/main" val="3298103605"/>
                    </a:ext>
                  </a:extLst>
                </a:gridCol>
                <a:gridCol w="1156044">
                  <a:extLst>
                    <a:ext uri="{9D8B030D-6E8A-4147-A177-3AD203B41FA5}">
                      <a16:colId xmlns:a16="http://schemas.microsoft.com/office/drawing/2014/main" val="3830598105"/>
                    </a:ext>
                  </a:extLst>
                </a:gridCol>
                <a:gridCol w="1161871">
                  <a:extLst>
                    <a:ext uri="{9D8B030D-6E8A-4147-A177-3AD203B41FA5}">
                      <a16:colId xmlns:a16="http://schemas.microsoft.com/office/drawing/2014/main" val="2304746890"/>
                    </a:ext>
                  </a:extLst>
                </a:gridCol>
                <a:gridCol w="1307105">
                  <a:extLst>
                    <a:ext uri="{9D8B030D-6E8A-4147-A177-3AD203B41FA5}">
                      <a16:colId xmlns:a16="http://schemas.microsoft.com/office/drawing/2014/main" val="3467463895"/>
                    </a:ext>
                  </a:extLst>
                </a:gridCol>
                <a:gridCol w="1295002">
                  <a:extLst>
                    <a:ext uri="{9D8B030D-6E8A-4147-A177-3AD203B41FA5}">
                      <a16:colId xmlns:a16="http://schemas.microsoft.com/office/drawing/2014/main" val="2478975321"/>
                    </a:ext>
                  </a:extLst>
                </a:gridCol>
              </a:tblGrid>
              <a:tr h="432782">
                <a:tc>
                  <a:txBody>
                    <a:bodyPr/>
                    <a:lstStyle/>
                    <a:p>
                      <a:pPr algn="l"/>
                      <a:r>
                        <a:rPr lang="en-GB" sz="1400" kern="100" dirty="0">
                          <a:effectLst/>
                        </a:rPr>
                        <a:t>KPA</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r>
                        <a:rPr lang="en-GB" sz="1400" kern="100" dirty="0">
                          <a:effectLst/>
                        </a:rPr>
                        <a:t>Brazil </a:t>
                      </a:r>
                    </a:p>
                    <a:p>
                      <a:pPr algn="ctr"/>
                      <a:r>
                        <a:rPr lang="en-GB" sz="1400" kern="100" dirty="0">
                          <a:effectLst/>
                        </a:rPr>
                        <a:t>2019</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GB" sz="1400" kern="100" dirty="0">
                          <a:effectLst/>
                        </a:rPr>
                        <a:t>Brazil</a:t>
                      </a:r>
                      <a:endParaRPr lang="en-BE" sz="1400" kern="100" dirty="0">
                        <a:effectLst/>
                      </a:endParaRPr>
                    </a:p>
                    <a:p>
                      <a:pPr algn="ctr"/>
                      <a:r>
                        <a:rPr lang="en-GB" sz="1400" kern="100" dirty="0">
                          <a:effectLst/>
                        </a:rPr>
                        <a:t>2023</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GB" sz="1400" kern="100" dirty="0">
                          <a:effectLst/>
                        </a:rPr>
                        <a:t> Europe </a:t>
                      </a:r>
                    </a:p>
                    <a:p>
                      <a:pPr algn="ctr"/>
                      <a:r>
                        <a:rPr lang="en-GB" sz="1400" kern="100" dirty="0">
                          <a:effectLst/>
                        </a:rPr>
                        <a:t>2019</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GB" sz="1400" kern="100" dirty="0">
                          <a:effectLst/>
                        </a:rPr>
                        <a:t> Europe </a:t>
                      </a:r>
                    </a:p>
                    <a:p>
                      <a:pPr algn="ctr"/>
                      <a:r>
                        <a:rPr lang="en-GB" sz="1400" kern="100" dirty="0">
                          <a:effectLst/>
                        </a:rPr>
                        <a:t>2023</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GB" sz="1400" kern="100" dirty="0">
                          <a:effectLst/>
                        </a:rPr>
                        <a:t>Brazil/Europe</a:t>
                      </a:r>
                    </a:p>
                    <a:p>
                      <a:pPr algn="ctr"/>
                      <a:r>
                        <a:rPr lang="en-GB" sz="1400" kern="100" dirty="0">
                          <a:effectLst/>
                        </a:rPr>
                        <a:t>2019 </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GB" sz="1400" kern="100" dirty="0">
                          <a:effectLst/>
                        </a:rPr>
                        <a:t>Brazil/Europe</a:t>
                      </a:r>
                    </a:p>
                    <a:p>
                      <a:pPr algn="ctr"/>
                      <a:r>
                        <a:rPr lang="en-GB" sz="1400" kern="100" dirty="0">
                          <a:effectLst/>
                        </a:rPr>
                        <a:t>2023 </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304143548"/>
                  </a:ext>
                </a:extLst>
              </a:tr>
              <a:tr h="432782">
                <a:tc>
                  <a:txBody>
                    <a:bodyPr/>
                    <a:lstStyle/>
                    <a:p>
                      <a:pPr algn="l"/>
                      <a:r>
                        <a:rPr lang="en-GB" sz="1400" kern="100" dirty="0">
                          <a:effectLst/>
                        </a:rPr>
                        <a:t> geographic area</a:t>
                      </a:r>
                      <a:br>
                        <a:rPr lang="en-GB" sz="1400" kern="100" dirty="0">
                          <a:effectLst/>
                        </a:rPr>
                      </a:br>
                      <a:r>
                        <a:rPr lang="en-GB" sz="1400" kern="100" dirty="0">
                          <a:effectLst/>
                        </a:rPr>
                        <a:t>(non-oceanic, million km</a:t>
                      </a:r>
                      <a:r>
                        <a:rPr lang="en-GB" sz="1400" kern="100" baseline="30000" dirty="0">
                          <a:effectLst/>
                        </a:rPr>
                        <a:t>2</a:t>
                      </a:r>
                      <a:r>
                        <a:rPr lang="en-GB" sz="1400" kern="100" baseline="0" dirty="0">
                          <a:effectLst/>
                        </a:rPr>
                        <a:t>)</a:t>
                      </a:r>
                      <a:r>
                        <a:rPr lang="en-GB" sz="1400" kern="100" dirty="0">
                          <a:effectLst/>
                        </a:rPr>
                        <a:t> </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gridSpan="2">
                  <a:txBody>
                    <a:bodyPr/>
                    <a:lstStyle/>
                    <a:p>
                      <a:pPr algn="ctr"/>
                      <a:r>
                        <a:rPr lang="en-GB" sz="1400" kern="100" dirty="0">
                          <a:effectLst/>
                        </a:rPr>
                        <a:t> 8.5 </a:t>
                      </a:r>
                      <a:endParaRPr lang="en-BE" sz="1400" kern="100" dirty="0">
                        <a:effectLst/>
                        <a:latin typeface="Aptos" panose="020B0004020202020204" pitchFamily="34" charset="0"/>
                        <a:cs typeface="Times New Roman" panose="02020603050405020304" pitchFamily="18" charset="0"/>
                      </a:endParaRPr>
                    </a:p>
                  </a:txBody>
                  <a:tcPr marL="68580" marR="68580" marT="0" marB="0" anchor="ctr"/>
                </a:tc>
                <a:tc hMerge="1">
                  <a:txBody>
                    <a:bodyPr/>
                    <a:lstStyle/>
                    <a:p>
                      <a:endParaRPr dirty="0"/>
                    </a:p>
                  </a:txBody>
                  <a:tcPr marL="68580" marR="68580" marT="0" marB="0"/>
                </a:tc>
                <a:tc gridSpan="2">
                  <a:txBody>
                    <a:bodyPr/>
                    <a:lstStyle/>
                    <a:p>
                      <a:pPr algn="ctr"/>
                      <a:r>
                        <a:rPr lang="en-GB" sz="1400" kern="100" dirty="0">
                          <a:effectLst/>
                        </a:rPr>
                        <a:t> 11.5 </a:t>
                      </a:r>
                      <a:endParaRPr lang="en-BE" sz="1400" kern="100" dirty="0">
                        <a:effectLst/>
                        <a:latin typeface="Aptos" panose="020B0004020202020204" pitchFamily="34" charset="0"/>
                        <a:cs typeface="Times New Roman" panose="02020603050405020304" pitchFamily="18" charset="0"/>
                      </a:endParaRPr>
                    </a:p>
                  </a:txBody>
                  <a:tcPr marL="68580" marR="68580" marT="0" marB="0" anchor="ctr"/>
                </a:tc>
                <a:tc hMerge="1">
                  <a:txBody>
                    <a:bodyPr/>
                    <a:lstStyle/>
                    <a:p>
                      <a:endParaRPr dirty="0"/>
                    </a:p>
                  </a:txBody>
                  <a:tcPr marL="68580" marR="68580" marT="0" marB="0" anchor="ctr"/>
                </a:tc>
                <a:tc gridSpan="2">
                  <a:txBody>
                    <a:bodyPr/>
                    <a:lstStyle/>
                    <a:p>
                      <a:pPr algn="ctr"/>
                      <a:r>
                        <a:rPr lang="en-GB" sz="1400" kern="100" dirty="0">
                          <a:effectLst/>
                        </a:rPr>
                        <a:t>74%</a:t>
                      </a:r>
                      <a:endParaRPr lang="en-BE" sz="1400" kern="100" dirty="0">
                        <a:effectLst/>
                        <a:latin typeface="Aptos" panose="020B0004020202020204" pitchFamily="34" charset="0"/>
                        <a:cs typeface="Times New Roman" panose="02020603050405020304" pitchFamily="18" charset="0"/>
                      </a:endParaRPr>
                    </a:p>
                  </a:txBody>
                  <a:tcPr marL="68580" marR="68580" marT="0" marB="0" anchor="ctr"/>
                </a:tc>
                <a:tc hMerge="1">
                  <a:txBody>
                    <a:bodyPr/>
                    <a:lstStyle/>
                    <a:p>
                      <a:endParaRPr dirty="0"/>
                    </a:p>
                  </a:txBody>
                  <a:tcPr marL="68580" marR="68580" marT="0" marB="0" anchor="ctr"/>
                </a:tc>
                <a:extLst>
                  <a:ext uri="{0D108BD9-81ED-4DB2-BD59-A6C34878D82A}">
                    <a16:rowId xmlns:a16="http://schemas.microsoft.com/office/drawing/2014/main" val="2168733589"/>
                  </a:ext>
                </a:extLst>
              </a:tr>
              <a:tr h="432782">
                <a:tc>
                  <a:txBody>
                    <a:bodyPr/>
                    <a:lstStyle/>
                    <a:p>
                      <a:pPr algn="l"/>
                      <a:r>
                        <a:rPr lang="en-GB" sz="1400" kern="100" dirty="0">
                          <a:effectLst/>
                        </a:rPr>
                        <a:t>number of </a:t>
                      </a:r>
                      <a:r>
                        <a:rPr lang="en-GB" sz="1400" kern="100" dirty="0" err="1">
                          <a:effectLst/>
                        </a:rPr>
                        <a:t>en</a:t>
                      </a:r>
                      <a:r>
                        <a:rPr lang="en-GB" sz="1400" kern="100" dirty="0">
                          <a:effectLst/>
                        </a:rPr>
                        <a:t>-route</a:t>
                      </a:r>
                      <a:br>
                        <a:rPr lang="en-GB" sz="1400" kern="100" dirty="0">
                          <a:effectLst/>
                        </a:rPr>
                      </a:br>
                      <a:r>
                        <a:rPr lang="en-GB" sz="1400" kern="100" dirty="0">
                          <a:effectLst/>
                        </a:rPr>
                        <a:t>ANSPs</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gridSpan="2">
                  <a:txBody>
                    <a:bodyPr/>
                    <a:lstStyle/>
                    <a:p>
                      <a:pPr algn="ctr"/>
                      <a:r>
                        <a:rPr lang="en-GB" sz="1400" kern="100" dirty="0">
                          <a:effectLst/>
                        </a:rPr>
                        <a:t>1</a:t>
                      </a:r>
                      <a:endParaRPr lang="en-BE" sz="1400" kern="100" dirty="0">
                        <a:effectLst/>
                        <a:latin typeface="Aptos" panose="020B0004020202020204" pitchFamily="34" charset="0"/>
                        <a:cs typeface="Times New Roman" panose="02020603050405020304" pitchFamily="18" charset="0"/>
                      </a:endParaRPr>
                    </a:p>
                  </a:txBody>
                  <a:tcPr marL="68580" marR="68580" marT="0" marB="0" anchor="ctr"/>
                </a:tc>
                <a:tc hMerge="1">
                  <a:txBody>
                    <a:bodyPr/>
                    <a:lstStyle/>
                    <a:p>
                      <a:endParaRPr dirty="0"/>
                    </a:p>
                  </a:txBody>
                  <a:tcPr marL="68580" marR="68580" marT="0" marB="0"/>
                </a:tc>
                <a:tc gridSpan="2">
                  <a:txBody>
                    <a:bodyPr/>
                    <a:lstStyle/>
                    <a:p>
                      <a:pPr algn="ctr"/>
                      <a:r>
                        <a:rPr lang="en-GB" sz="1400" kern="100" dirty="0">
                          <a:effectLst/>
                        </a:rPr>
                        <a:t>36</a:t>
                      </a:r>
                      <a:endParaRPr lang="en-BE" sz="1400" kern="100" dirty="0">
                        <a:effectLst/>
                        <a:latin typeface="Aptos" panose="020B0004020202020204" pitchFamily="34" charset="0"/>
                        <a:cs typeface="Times New Roman" panose="02020603050405020304" pitchFamily="18" charset="0"/>
                      </a:endParaRPr>
                    </a:p>
                  </a:txBody>
                  <a:tcPr marL="68580" marR="68580" marT="0" marB="0" anchor="ctr"/>
                </a:tc>
                <a:tc hMerge="1">
                  <a:txBody>
                    <a:bodyPr/>
                    <a:lstStyle/>
                    <a:p>
                      <a:endParaRPr dirty="0"/>
                    </a:p>
                  </a:txBody>
                  <a:tcPr marL="68580" marR="68580" marT="0" marB="0" anchor="ctr"/>
                </a:tc>
                <a:tc gridSpan="2">
                  <a:txBody>
                    <a:bodyPr/>
                    <a:lstStyle/>
                    <a:p>
                      <a:pPr algn="ctr"/>
                      <a:r>
                        <a:rPr lang="en-GB" sz="1400" kern="100" dirty="0">
                          <a:effectLst/>
                          <a:latin typeface="Aptos" panose="020B0004020202020204" pitchFamily="34" charset="0"/>
                          <a:cs typeface="Times New Roman" panose="02020603050405020304" pitchFamily="18" charset="0"/>
                        </a:rPr>
                        <a:t>single provider vs multiple</a:t>
                      </a:r>
                      <a:endParaRPr lang="en-BE" sz="1400" kern="100" dirty="0">
                        <a:effectLst/>
                        <a:latin typeface="Aptos" panose="020B0004020202020204" pitchFamily="34" charset="0"/>
                        <a:cs typeface="Times New Roman" panose="02020603050405020304" pitchFamily="18" charset="0"/>
                      </a:endParaRPr>
                    </a:p>
                  </a:txBody>
                  <a:tcPr marL="68580" marR="68580" marT="0" marB="0" anchor="ctr"/>
                </a:tc>
                <a:tc hMerge="1">
                  <a:txBody>
                    <a:bodyPr/>
                    <a:lstStyle/>
                    <a:p>
                      <a:endParaRPr dirty="0"/>
                    </a:p>
                  </a:txBody>
                  <a:tcPr marL="68580" marR="68580" marT="0" marB="0" anchor="ctr"/>
                </a:tc>
                <a:extLst>
                  <a:ext uri="{0D108BD9-81ED-4DB2-BD59-A6C34878D82A}">
                    <a16:rowId xmlns:a16="http://schemas.microsoft.com/office/drawing/2014/main" val="2905947655"/>
                  </a:ext>
                </a:extLst>
              </a:tr>
              <a:tr h="432782">
                <a:tc>
                  <a:txBody>
                    <a:bodyPr/>
                    <a:lstStyle/>
                    <a:p>
                      <a:pPr algn="l"/>
                      <a:r>
                        <a:rPr lang="en-GB" sz="1400" kern="100" dirty="0">
                          <a:effectLst/>
                        </a:rPr>
                        <a:t>number of TWR</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r>
                        <a:rPr lang="en-GB" sz="1400" kern="100" dirty="0">
                          <a:effectLst/>
                        </a:rPr>
                        <a:t>59 </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GB" sz="1400" kern="100" dirty="0">
                          <a:effectLst/>
                        </a:rPr>
                        <a:t>57 + </a:t>
                      </a:r>
                      <a:br>
                        <a:rPr lang="en-GB" sz="1400" kern="100" dirty="0">
                          <a:effectLst/>
                        </a:rPr>
                      </a:br>
                      <a:r>
                        <a:rPr lang="en-GB" sz="1400" kern="100" dirty="0">
                          <a:effectLst/>
                        </a:rPr>
                        <a:t>1 DTWR</a:t>
                      </a:r>
                      <a:r>
                        <a:rPr lang="en-GB" sz="1400" kern="100" baseline="30000" dirty="0">
                          <a:effectLst/>
                        </a:rPr>
                        <a:t>(2)</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GB" sz="1400" kern="100" dirty="0">
                          <a:effectLst/>
                        </a:rPr>
                        <a:t> 400+</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GB" sz="1400" kern="100" dirty="0">
                          <a:effectLst/>
                        </a:rPr>
                        <a:t> </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rowSpan="3" gridSpan="2">
                  <a:txBody>
                    <a:bodyPr/>
                    <a:lstStyle/>
                    <a:p>
                      <a:pPr algn="ctr"/>
                      <a:r>
                        <a:rPr lang="en-GB" sz="1400" kern="100" dirty="0">
                          <a:effectLst/>
                          <a:latin typeface="Aptos" panose="020B0004020202020204" pitchFamily="34" charset="0"/>
                          <a:cs typeface="Times New Roman" panose="02020603050405020304" pitchFamily="18" charset="0"/>
                        </a:rPr>
                        <a:t>ATS f</a:t>
                      </a:r>
                      <a:r>
                        <a:rPr lang="en-BE" sz="1400" kern="100" dirty="0">
                          <a:effectLst/>
                          <a:latin typeface="Aptos" panose="020B0004020202020204" pitchFamily="34" charset="0"/>
                          <a:cs typeface="Times New Roman" panose="02020603050405020304" pitchFamily="18" charset="0"/>
                        </a:rPr>
                        <a:t>acilities </a:t>
                      </a:r>
                    </a:p>
                    <a:p>
                      <a:pPr algn="ctr"/>
                      <a:r>
                        <a:rPr lang="en-BE" sz="1400" kern="100" dirty="0">
                          <a:effectLst/>
                          <a:latin typeface="Aptos" panose="020B0004020202020204" pitchFamily="34" charset="0"/>
                          <a:cs typeface="Times New Roman" panose="02020603050405020304" pitchFamily="18" charset="0"/>
                        </a:rPr>
                        <a:t>mostly unchanged</a:t>
                      </a:r>
                    </a:p>
                  </a:txBody>
                  <a:tcPr marL="68580" marR="68580" marT="0" marB="0" anchor="ctr"/>
                </a:tc>
                <a:tc rowSpan="3" hMerge="1">
                  <a:txBody>
                    <a:bodyPr/>
                    <a:lstStyle/>
                    <a:p>
                      <a:endParaRPr/>
                    </a:p>
                  </a:txBody>
                  <a:tcPr marL="68580" marR="68580" marT="0" marB="0" anchor="ctr"/>
                </a:tc>
                <a:extLst>
                  <a:ext uri="{0D108BD9-81ED-4DB2-BD59-A6C34878D82A}">
                    <a16:rowId xmlns:a16="http://schemas.microsoft.com/office/drawing/2014/main" val="27224785"/>
                  </a:ext>
                </a:extLst>
              </a:tr>
              <a:tr h="432782">
                <a:tc>
                  <a:txBody>
                    <a:bodyPr/>
                    <a:lstStyle/>
                    <a:p>
                      <a:pPr algn="l"/>
                      <a:r>
                        <a:rPr lang="en-GB" sz="1400" kern="100" dirty="0">
                          <a:effectLst/>
                        </a:rPr>
                        <a:t>number of APP</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r>
                        <a:rPr lang="en-GB" sz="1400" kern="100" dirty="0">
                          <a:effectLst/>
                        </a:rPr>
                        <a:t> 43</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GB" sz="1400" kern="100" dirty="0">
                          <a:effectLst/>
                        </a:rPr>
                        <a:t> 41</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GB" sz="1400" kern="100" dirty="0">
                          <a:effectLst/>
                        </a:rPr>
                        <a:t>19 (stand-alone) </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GB" sz="1400" kern="100" dirty="0">
                          <a:effectLst/>
                        </a:rPr>
                        <a:t> 19 (stand-alone)</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gridSpan="2" vMerge="1">
                  <a:txBody>
                    <a:bodyPr/>
                    <a:lstStyle/>
                    <a:p>
                      <a:endParaRPr/>
                    </a:p>
                  </a:txBody>
                  <a:tcPr marL="68580" marR="68580" marT="0" marB="0" anchor="ctr"/>
                </a:tc>
                <a:tc hMerge="1" vMerge="1">
                  <a:txBody>
                    <a:bodyPr/>
                    <a:lstStyle/>
                    <a:p>
                      <a:endParaRPr/>
                    </a:p>
                  </a:txBody>
                  <a:tcPr marL="68580" marR="68580" marT="0" marB="0" anchor="ctr"/>
                </a:tc>
                <a:extLst>
                  <a:ext uri="{0D108BD9-81ED-4DB2-BD59-A6C34878D82A}">
                    <a16:rowId xmlns:a16="http://schemas.microsoft.com/office/drawing/2014/main" val="2047060381"/>
                  </a:ext>
                </a:extLst>
              </a:tr>
              <a:tr h="393643">
                <a:tc>
                  <a:txBody>
                    <a:bodyPr/>
                    <a:lstStyle/>
                    <a:p>
                      <a:pPr algn="l"/>
                      <a:r>
                        <a:rPr lang="en-GB" sz="1400" kern="100" dirty="0">
                          <a:effectLst/>
                          <a:latin typeface="Aptos" panose="020B0004020202020204" pitchFamily="34" charset="0"/>
                          <a:ea typeface="Aptos" panose="020B0004020202020204" pitchFamily="34" charset="0"/>
                          <a:cs typeface="Times New Roman" panose="02020603050405020304" pitchFamily="18" charset="0"/>
                        </a:rPr>
                        <a:t>n</a:t>
                      </a:r>
                      <a:r>
                        <a:rPr lang="en-BE" sz="1400" kern="100" dirty="0">
                          <a:effectLst/>
                          <a:latin typeface="Aptos" panose="020B0004020202020204" pitchFamily="34" charset="0"/>
                          <a:ea typeface="Aptos" panose="020B0004020202020204" pitchFamily="34" charset="0"/>
                          <a:cs typeface="Times New Roman" panose="02020603050405020304" pitchFamily="18" charset="0"/>
                        </a:rPr>
                        <a:t>umber of ACC</a:t>
                      </a:r>
                    </a:p>
                  </a:txBody>
                  <a:tcPr marL="68580" marR="68580" marT="0" marB="0"/>
                </a:tc>
                <a:tc gridSpan="2">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tc>
                <a:tc hMerge="1">
                  <a:txBody>
                    <a:bodyPr/>
                    <a:lstStyle/>
                    <a:p>
                      <a:pPr algn="ct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58</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58</a:t>
                      </a:r>
                    </a:p>
                  </a:txBody>
                  <a:tcPr marL="68580" marR="68580" marT="0" marB="0" anchor="ctr"/>
                </a:tc>
                <a:tc gridSpan="2" vMerge="1">
                  <a:txBody>
                    <a:bodyPr/>
                    <a:lstStyle/>
                    <a:p>
                      <a:pPr algn="ct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hMerge="1" vMerge="1">
                  <a:txBody>
                    <a:bodyPr/>
                    <a:lstStyle/>
                    <a:p>
                      <a:pPr algn="ct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581900928"/>
                  </a:ext>
                </a:extLst>
              </a:tr>
              <a:tr h="393643">
                <a:tc>
                  <a:txBody>
                    <a:bodyPr/>
                    <a:lstStyle/>
                    <a:p>
                      <a:pPr algn="l"/>
                      <a:r>
                        <a:rPr lang="en-GB" sz="1400" kern="100" dirty="0">
                          <a:effectLst/>
                          <a:latin typeface="Aptos" panose="020B0004020202020204" pitchFamily="34" charset="0"/>
                          <a:ea typeface="Aptos" panose="020B0004020202020204" pitchFamily="34" charset="0"/>
                          <a:cs typeface="Times New Roman" panose="02020603050405020304" pitchFamily="18" charset="0"/>
                        </a:rPr>
                        <a:t>n</a:t>
                      </a:r>
                      <a:r>
                        <a:rPr lang="en-BE" sz="1400" kern="100" dirty="0">
                          <a:effectLst/>
                          <a:latin typeface="Aptos" panose="020B0004020202020204" pitchFamily="34" charset="0"/>
                          <a:ea typeface="Aptos" panose="020B0004020202020204" pitchFamily="34" charset="0"/>
                          <a:cs typeface="Times New Roman" panose="02020603050405020304" pitchFamily="18" charset="0"/>
                        </a:rPr>
                        <a:t>umber of ATCOs in OPS</a:t>
                      </a:r>
                    </a:p>
                  </a:txBody>
                  <a:tcPr marL="68580" marR="68580" marT="0" marB="0"/>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3 126</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3 677</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17 563</a:t>
                      </a:r>
                    </a:p>
                  </a:txBody>
                  <a:tcPr marL="68580" marR="68580" marT="0" marB="0" anchor="ctr"/>
                </a:tc>
                <a:tc>
                  <a:txBody>
                    <a:bodyPr/>
                    <a:lstStyle/>
                    <a:p>
                      <a:pPr algn="ctr"/>
                      <a:r>
                        <a:rPr lang="en-GB" sz="1400" kern="100" dirty="0">
                          <a:effectLst/>
                          <a:latin typeface="Aptos" panose="020B0004020202020204" pitchFamily="34" charset="0"/>
                          <a:ea typeface="Aptos" panose="020B0004020202020204" pitchFamily="34" charset="0"/>
                          <a:cs typeface="Times New Roman" panose="02020603050405020304" pitchFamily="18" charset="0"/>
                        </a:rPr>
                        <a:t>16552</a:t>
                      </a:r>
                      <a:r>
                        <a:rPr lang="en-BE" sz="1400" kern="100" baseline="30000" dirty="0">
                          <a:effectLst/>
                          <a:latin typeface="Aptos" panose="020B0004020202020204" pitchFamily="34" charset="0"/>
                          <a:ea typeface="Aptos" panose="020B0004020202020204" pitchFamily="34" charset="0"/>
                          <a:cs typeface="Times New Roman" panose="02020603050405020304" pitchFamily="18" charset="0"/>
                        </a:rPr>
                        <a:t>(1)</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17.8%</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22.2%</a:t>
                      </a:r>
                    </a:p>
                  </a:txBody>
                  <a:tcPr marL="68580" marR="68580" marT="0" marB="0" anchor="ctr"/>
                </a:tc>
                <a:extLst>
                  <a:ext uri="{0D108BD9-81ED-4DB2-BD59-A6C34878D82A}">
                    <a16:rowId xmlns:a16="http://schemas.microsoft.com/office/drawing/2014/main" val="2502118196"/>
                  </a:ext>
                </a:extLst>
              </a:tr>
              <a:tr h="393643">
                <a:tc>
                  <a:txBody>
                    <a:bodyPr/>
                    <a:lstStyle/>
                    <a:p>
                      <a:pPr algn="l"/>
                      <a:r>
                        <a:rPr lang="en-GB" sz="1400" kern="100" dirty="0">
                          <a:effectLst/>
                          <a:latin typeface="Aptos" panose="020B0004020202020204" pitchFamily="34" charset="0"/>
                          <a:ea typeface="Aptos" panose="020B0004020202020204" pitchFamily="34" charset="0"/>
                          <a:cs typeface="Times New Roman" panose="02020603050405020304" pitchFamily="18" charset="0"/>
                        </a:rPr>
                        <a:t>c</a:t>
                      </a:r>
                      <a:r>
                        <a:rPr lang="en-BE" sz="1400" kern="100" dirty="0">
                          <a:effectLst/>
                          <a:latin typeface="Aptos" panose="020B0004020202020204" pitchFamily="34" charset="0"/>
                          <a:ea typeface="Aptos" panose="020B0004020202020204" pitchFamily="34" charset="0"/>
                          <a:cs typeface="Times New Roman" panose="02020603050405020304" pitchFamily="18" charset="0"/>
                        </a:rPr>
                        <a:t>ontrolled flights</a:t>
                      </a: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BE" sz="1400" kern="100" dirty="0">
                          <a:effectLst/>
                          <a:latin typeface="Aptos" panose="020B0004020202020204" pitchFamily="34" charset="0"/>
                          <a:ea typeface="Aptos" panose="020B0004020202020204" pitchFamily="34" charset="0"/>
                          <a:cs typeface="Times New Roman" panose="02020603050405020304" pitchFamily="18" charset="0"/>
                        </a:rPr>
                        <a:t>1 594 442</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1 801 109</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10 995 092</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9 237 693</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14.5%</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19.5%</a:t>
                      </a:r>
                    </a:p>
                  </a:txBody>
                  <a:tcPr marL="68580" marR="68580" marT="0" marB="0" anchor="ctr"/>
                </a:tc>
                <a:extLst>
                  <a:ext uri="{0D108BD9-81ED-4DB2-BD59-A6C34878D82A}">
                    <a16:rowId xmlns:a16="http://schemas.microsoft.com/office/drawing/2014/main" val="1458423313"/>
                  </a:ext>
                </a:extLst>
              </a:tr>
              <a:tr h="393643">
                <a:tc>
                  <a:txBody>
                    <a:bodyPr/>
                    <a:lstStyle/>
                    <a:p>
                      <a:pPr algn="l"/>
                      <a:r>
                        <a:rPr lang="en-GB" sz="1400" kern="100" dirty="0">
                          <a:effectLst/>
                          <a:latin typeface="Aptos" panose="020B0004020202020204" pitchFamily="34" charset="0"/>
                          <a:ea typeface="Aptos" panose="020B0004020202020204" pitchFamily="34" charset="0"/>
                          <a:cs typeface="Times New Roman" panose="02020603050405020304" pitchFamily="18" charset="0"/>
                        </a:rPr>
                        <a:t>f</a:t>
                      </a:r>
                      <a:r>
                        <a:rPr lang="en-BE" sz="1400" kern="100" dirty="0">
                          <a:effectLst/>
                          <a:latin typeface="Aptos" panose="020B0004020202020204" pitchFamily="34" charset="0"/>
                          <a:ea typeface="Aptos" panose="020B0004020202020204" pitchFamily="34" charset="0"/>
                          <a:cs typeface="Times New Roman" panose="02020603050405020304" pitchFamily="18" charset="0"/>
                        </a:rPr>
                        <a:t>lights/ATCO</a:t>
                      </a:r>
                    </a:p>
                  </a:txBody>
                  <a:tcPr marL="68580" marR="68580" marT="0" marB="0"/>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510</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490</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626</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558</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81.5%</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87.8%</a:t>
                      </a:r>
                    </a:p>
                  </a:txBody>
                  <a:tcPr marL="68580" marR="68580" marT="0" marB="0" anchor="ctr"/>
                </a:tc>
                <a:extLst>
                  <a:ext uri="{0D108BD9-81ED-4DB2-BD59-A6C34878D82A}">
                    <a16:rowId xmlns:a16="http://schemas.microsoft.com/office/drawing/2014/main" val="2372469915"/>
                  </a:ext>
                </a:extLst>
              </a:tr>
              <a:tr h="432782">
                <a:tc>
                  <a:txBody>
                    <a:bodyPr/>
                    <a:lstStyle/>
                    <a:p>
                      <a:pPr algn="l"/>
                      <a:r>
                        <a:rPr lang="en-GB" sz="1400" kern="100" dirty="0">
                          <a:effectLst/>
                          <a:latin typeface="Aptos" panose="020B0004020202020204" pitchFamily="34" charset="0"/>
                          <a:ea typeface="Aptos" panose="020B0004020202020204" pitchFamily="34" charset="0"/>
                          <a:cs typeface="Times New Roman" panose="02020603050405020304" pitchFamily="18" charset="0"/>
                        </a:rPr>
                        <a:t>t</a:t>
                      </a:r>
                      <a:r>
                        <a:rPr lang="en-BE" sz="1400" kern="100" dirty="0">
                          <a:effectLst/>
                          <a:latin typeface="Aptos" panose="020B0004020202020204" pitchFamily="34" charset="0"/>
                          <a:ea typeface="Aptos" panose="020B0004020202020204" pitchFamily="34" charset="0"/>
                          <a:cs typeface="Times New Roman" panose="02020603050405020304" pitchFamily="18" charset="0"/>
                        </a:rPr>
                        <a:t>raffic density (non-oceanic, flights/km</a:t>
                      </a:r>
                      <a:r>
                        <a:rPr lang="en-BE" sz="1400" kern="100" baseline="30000" dirty="0">
                          <a:effectLst/>
                          <a:latin typeface="Aptos" panose="020B0004020202020204" pitchFamily="34" charset="0"/>
                          <a:ea typeface="Aptos" panose="020B0004020202020204" pitchFamily="34" charset="0"/>
                          <a:cs typeface="Times New Roman" panose="02020603050405020304" pitchFamily="18" charset="0"/>
                        </a:rPr>
                        <a:t>2</a:t>
                      </a:r>
                      <a:r>
                        <a:rPr lang="en-BE" sz="1400" kern="100" baseline="0" dirty="0">
                          <a:effectLst/>
                          <a:latin typeface="Aptos" panose="020B0004020202020204" pitchFamily="34" charset="0"/>
                          <a:ea typeface="Aptos" panose="020B0004020202020204" pitchFamily="34" charset="0"/>
                          <a:cs typeface="Times New Roman" panose="02020603050405020304" pitchFamily="18" charset="0"/>
                        </a:rPr>
                        <a:t>)</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0.187</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0.212</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0.956</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0.80</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20%</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26.5%</a:t>
                      </a:r>
                    </a:p>
                  </a:txBody>
                  <a:tcPr marL="68580" marR="68580" marT="0" marB="0" anchor="ctr"/>
                </a:tc>
                <a:extLst>
                  <a:ext uri="{0D108BD9-81ED-4DB2-BD59-A6C34878D82A}">
                    <a16:rowId xmlns:a16="http://schemas.microsoft.com/office/drawing/2014/main" val="1299329876"/>
                  </a:ext>
                </a:extLst>
              </a:tr>
              <a:tr h="393643">
                <a:tc>
                  <a:txBody>
                    <a:bodyPr/>
                    <a:lstStyle/>
                    <a:p>
                      <a:pPr algn="l"/>
                      <a:endParaRPr lang="en-BE"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gridSpan="6">
                  <a:txBody>
                    <a:bodyPr/>
                    <a:lstStyle/>
                    <a:p>
                      <a:pPr marL="228600" indent="-228600" algn="r">
                        <a:buAutoNum type="arabicParenBoth"/>
                      </a:pPr>
                      <a:r>
                        <a:rPr lang="en-BE" sz="1100" kern="100" dirty="0">
                          <a:effectLst/>
                          <a:latin typeface="Aptos" panose="020B0004020202020204" pitchFamily="34" charset="0"/>
                          <a:ea typeface="Aptos" panose="020B0004020202020204" pitchFamily="34" charset="0"/>
                          <a:cs typeface="Times New Roman" panose="02020603050405020304" pitchFamily="18" charset="0"/>
                        </a:rPr>
                        <a:t>c.f. ACE report; </a:t>
                      </a:r>
                      <a:br>
                        <a:rPr lang="en-BE" sz="1100" kern="100" dirty="0">
                          <a:effectLst/>
                          <a:latin typeface="Aptos" panose="020B0004020202020204" pitchFamily="34" charset="0"/>
                          <a:ea typeface="Aptos" panose="020B0004020202020204" pitchFamily="34" charset="0"/>
                          <a:cs typeface="Times New Roman" panose="02020603050405020304" pitchFamily="18" charset="0"/>
                        </a:rPr>
                      </a:br>
                      <a:r>
                        <a:rPr lang="en-BE" sz="1100" kern="100" dirty="0">
                          <a:effectLst/>
                          <a:latin typeface="Aptos" panose="020B0004020202020204" pitchFamily="34" charset="0"/>
                          <a:ea typeface="Aptos" panose="020B0004020202020204" pitchFamily="34" charset="0"/>
                          <a:cs typeface="Times New Roman" panose="02020603050405020304" pitchFamily="18" charset="0"/>
                        </a:rPr>
                        <a:t>further </a:t>
                      </a:r>
                      <a:r>
                        <a:rPr lang="en-GB" sz="1100" dirty="0"/>
                        <a:t>staff and facility numbers refer to EUROCONTROL States, excluding Georgia, Ukraine, Canary Islands and Oceanic areas. European staff and facility numbers refer to 2021 which is the latest year available.</a:t>
                      </a:r>
                    </a:p>
                    <a:p>
                      <a:pPr marL="228600" indent="-228600" algn="r">
                        <a:buAutoNum type="arabicParenBoth"/>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DTWR: DECEA has deployed a digital TWR</a:t>
                      </a:r>
                      <a:endParaRPr lang="en-BE"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hMerge="1">
                  <a:txBody>
                    <a:bodyPr/>
                    <a:lstStyle/>
                    <a:p>
                      <a:pPr algn="ct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hMerge="1">
                  <a:txBody>
                    <a:bodyPr/>
                    <a:lstStyle/>
                    <a:p>
                      <a:pPr algn="ct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hMerge="1">
                  <a:txBody>
                    <a:bodyPr/>
                    <a:lstStyle/>
                    <a:p>
                      <a:pPr algn="ct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hMerge="1">
                  <a:txBody>
                    <a:bodyPr/>
                    <a:lstStyle/>
                    <a:p>
                      <a:pPr algn="ct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hMerge="1">
                  <a:txBody>
                    <a:bodyPr/>
                    <a:lstStyle/>
                    <a:p>
                      <a:pPr algn="ct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954535009"/>
                  </a:ext>
                </a:extLst>
              </a:tr>
            </a:tbl>
          </a:graphicData>
        </a:graphic>
      </p:graphicFrame>
    </p:spTree>
    <p:extLst>
      <p:ext uri="{BB962C8B-B14F-4D97-AF65-F5344CB8AC3E}">
        <p14:creationId xmlns:p14="http://schemas.microsoft.com/office/powerpoint/2010/main" val="2724684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map of europe and europe&#10;&#10;AI-generated content may be incorrect.">
            <a:extLst>
              <a:ext uri="{FF2B5EF4-FFF2-40B4-BE49-F238E27FC236}">
                <a16:creationId xmlns:a16="http://schemas.microsoft.com/office/drawing/2014/main" id="{5416C9DC-723B-E51B-6656-1C635CE838D4}"/>
              </a:ext>
            </a:extLst>
          </p:cNvPr>
          <p:cNvPicPr>
            <a:picLocks noChangeAspect="1"/>
          </p:cNvPicPr>
          <p:nvPr/>
        </p:nvPicPr>
        <p:blipFill>
          <a:blip r:embed="rId2"/>
          <a:stretch>
            <a:fillRect/>
          </a:stretch>
        </p:blipFill>
        <p:spPr>
          <a:xfrm>
            <a:off x="1553027" y="805530"/>
            <a:ext cx="8501621" cy="5246940"/>
          </a:xfrm>
          <a:prstGeom prst="rect">
            <a:avLst/>
          </a:prstGeom>
        </p:spPr>
      </p:pic>
    </p:spTree>
    <p:extLst>
      <p:ext uri="{BB962C8B-B14F-4D97-AF65-F5344CB8AC3E}">
        <p14:creationId xmlns:p14="http://schemas.microsoft.com/office/powerpoint/2010/main" val="6472829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d60f3b8-f236-4830-aecc-da0a7fc54679}" enabled="1" method="Standard" siteId="{76f33c20-5979-4408-adf7-8b3c4be95e52}" contentBits="0" removed="0"/>
</clbl:labelList>
</file>

<file path=docProps/app.xml><?xml version="1.0" encoding="utf-8"?>
<Properties xmlns="http://schemas.openxmlformats.org/officeDocument/2006/extended-properties" xmlns:vt="http://schemas.openxmlformats.org/officeDocument/2006/docPropsVTypes">
  <TotalTime>17315</TotalTime>
  <Words>737</Words>
  <Application>Microsoft Macintosh PowerPoint</Application>
  <PresentationFormat>Widescreen</PresentationFormat>
  <Paragraphs>85</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Source Sans Pro</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KOELLE Rainer</dc:creator>
  <cp:lastModifiedBy>KOELLE Rainer</cp:lastModifiedBy>
  <cp:revision>8</cp:revision>
  <dcterms:created xsi:type="dcterms:W3CDTF">2024-03-04T14:40:37Z</dcterms:created>
  <dcterms:modified xsi:type="dcterms:W3CDTF">2025-06-11T05:50:34Z</dcterms:modified>
</cp:coreProperties>
</file>